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24" r:id="rId4"/>
  </p:sldMasterIdLst>
  <p:notesMasterIdLst>
    <p:notesMasterId r:id="rId17"/>
  </p:notesMasterIdLst>
  <p:sldIdLst>
    <p:sldId id="2753" r:id="rId5"/>
    <p:sldId id="2769" r:id="rId6"/>
    <p:sldId id="2759" r:id="rId7"/>
    <p:sldId id="2768" r:id="rId8"/>
    <p:sldId id="2762" r:id="rId9"/>
    <p:sldId id="2761" r:id="rId10"/>
    <p:sldId id="2770" r:id="rId11"/>
    <p:sldId id="2764" r:id="rId12"/>
    <p:sldId id="2766" r:id="rId13"/>
    <p:sldId id="2765" r:id="rId14"/>
    <p:sldId id="2757" r:id="rId15"/>
    <p:sldId id="277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ain Deck" id="{63401E4B-437E-0045-A22B-337D8C62A048}">
          <p14:sldIdLst>
            <p14:sldId id="2753"/>
            <p14:sldId id="2769"/>
            <p14:sldId id="2759"/>
            <p14:sldId id="2768"/>
            <p14:sldId id="2762"/>
            <p14:sldId id="2761"/>
            <p14:sldId id="2770"/>
            <p14:sldId id="2764"/>
            <p14:sldId id="2766"/>
            <p14:sldId id="2765"/>
          </p14:sldIdLst>
        </p14:section>
        <p14:section name="Appendix" id="{326F3A12-E522-8C43-98E0-ABA4032C25AB}">
          <p14:sldIdLst>
            <p14:sldId id="2757"/>
            <p14:sldId id="27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6" userDrawn="1">
          <p15:clr>
            <a:srgbClr val="747775"/>
          </p15:clr>
        </p15:guide>
        <p15:guide id="2" pos="2856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76550D-01AA-CBFE-37B9-07ED9F2057F0}" name="Ulyana A" initials="MOU" userId="Ulyana A" providerId="None"/>
  <p188:author id="{A5915A21-1FDB-10E2-3D79-FAC51D5CF6B5}" name="Maggie Thomas" initials="MT" userId="S::maggie.thomas@modop.com::4654b440-a5d0-4e58-996a-822b43550632" providerId="AD"/>
  <p188:author id="{C31B822C-75CA-3BF8-292F-E2D37A3297F4}" name="Monica Richter" initials="MR" userId="S::monica.richter@modop.com::ff19b4c3-3b5b-4f53-9319-ebe9bab90eb0" providerId="AD"/>
  <p188:author id="{4DE09CA6-D556-9540-DCDB-B59D9DA983AB}" name="Alyssa Curci" initials="AC" userId="S::alyssa.curci@modop.com::07076065-7093-4123-bd11-0e78a1f49232" providerId="AD"/>
  <p188:author id="{5B77A3B8-CB7A-571F-4790-3755D03983B3}" name="Jonathan Murray" initials="JM" userId="Jonathan Murray" providerId="None"/>
  <p188:author id="{B67229C6-04FC-0E20-9FBA-83EE4F259194}" name="Laura Shkembi" initials="" userId="S::laura.shkembi@modop.com::67939202-3e75-47dd-b074-2791bbd09001" providerId="AD"/>
  <p188:author id="{CFE350E3-BC6E-DDB9-F82A-60A8E7DFCA2D}" name="Alex Abboud" initials="" userId="S::alex.abboud@modop.com::964f90ed-4e71-42e9-885a-67c87dbd0668" providerId="AD"/>
  <p188:author id="{EDE2FDE5-8345-9B8A-866B-93E544D9A70F}" name="Lauren Schmidt" initials="LS" userId="S::lauren.schmidt@modop.com::969a83da-619f-41bf-9d80-042b75bcc4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692"/>
    <a:srgbClr val="143B63"/>
    <a:srgbClr val="F08B32"/>
    <a:srgbClr val="2473C4"/>
    <a:srgbClr val="00B7E9"/>
    <a:srgbClr val="7F848E"/>
    <a:srgbClr val="F46B7B"/>
    <a:srgbClr val="FD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06"/>
    <p:restoredTop sz="58357"/>
  </p:normalViewPr>
  <p:slideViewPr>
    <p:cSldViewPr snapToGrid="0">
      <p:cViewPr>
        <p:scale>
          <a:sx n="100" d="100"/>
          <a:sy n="100" d="100"/>
        </p:scale>
        <p:origin x="1056" y="144"/>
      </p:cViewPr>
      <p:guideLst>
        <p:guide orient="horz" pos="1596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600" dirty="0"/>
              <a:t>Hi, I’m Derick Schaefer. I designed and built Reserve, an unofficial, open-source, cross-platform CLI for exploring macroeconomic data.  RESERVE is designed around the APIs provided by The Federal Reserve Bank of St. Louis’s FRED platform and is built in Go.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While building and testing RESERVE, I accidentally learned something about AI agents.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This learning changed how I think about command-line interfaces.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I’ll admit the title of this talk is intentionally provocative.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I’m not here to argue against agents.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I’m here to argue that one of their biggest challenges has already been solved……about fifty years ago.</a:t>
            </a: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158750" indent="0">
              <a:buNone/>
            </a:pPr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6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0994-A9B4-FF6C-8909-0D021489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E84BC-2B95-0249-8C3A-B66366C61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A5A05-A6C2-C86F-EF2D-83F89D7A2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Right now, everyone seems to be moving intelligence as far left as possible.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Whether or not there is an MCP server in the mix, the expectation is that the agent understands everything, remembers everything, plans everything, and executes everything.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But Unix took a very different approach.</a:t>
            </a:r>
          </a:p>
          <a:p>
            <a:pPr marL="158750" indent="0">
              <a:buNone/>
            </a:pPr>
            <a:endParaRPr lang="en-US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&lt;CLICK&gt;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For decades we've been moving determinism to the right.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Small programs.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Simple interfaces.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And Composable pipelines producing deterministic output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That difference is the heart of this talk.</a:t>
            </a:r>
          </a:p>
        </p:txBody>
      </p:sp>
    </p:spTree>
    <p:extLst>
      <p:ext uri="{BB962C8B-B14F-4D97-AF65-F5344CB8AC3E}">
        <p14:creationId xmlns:p14="http://schemas.microsoft.com/office/powerpoint/2010/main" val="3049235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I assume most here are familiar with The Unix Philosophy.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Do one thing well.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Work well with others.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 only thing that's changed is who "others" are.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Today...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Others include agents.</a:t>
            </a:r>
          </a:p>
        </p:txBody>
      </p:sp>
    </p:spTree>
    <p:extLst>
      <p:ext uri="{BB962C8B-B14F-4D97-AF65-F5344CB8AC3E}">
        <p14:creationId xmlns:p14="http://schemas.microsoft.com/office/powerpoint/2010/main" val="394131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FD98-3621-0784-1F12-80C36B04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62341-73E5-D01C-37BD-2FF7981BC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E4E84-4765-90DF-A2E0-3B5A86B85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Reserve follows exactly this philosophy.  Built with Cobra, it organizes commands and sub-commands under three logical surfaces: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One command set retrieves data.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Another transforms it.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Another analyzes it.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>
                <a:latin typeface="Montserrat" pitchFamily="2" charset="77"/>
              </a:rPr>
              <a:t>Each sub-command is deterministic and has a single responsibility.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400" dirty="0">
              <a:latin typeface="Montserrat" pitchFamily="2" charset="77"/>
            </a:endParaRP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>
                <a:latin typeface="Montserrat" pitchFamily="2" charset="77"/>
              </a:rPr>
              <a:t>&lt;CLICK&gt;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 pipeline is where the complexity lives—not inside the individual commands.</a:t>
            </a:r>
          </a:p>
        </p:txBody>
      </p:sp>
    </p:spTree>
    <p:extLst>
      <p:ext uri="{BB962C8B-B14F-4D97-AF65-F5344CB8AC3E}">
        <p14:creationId xmlns:p14="http://schemas.microsoft.com/office/powerpoint/2010/main" val="421345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9D1E-BA07-2D9C-50A3-47E329D3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16AC6-B9DA-0702-9113-E065BA8D9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D028D-E29C-57A2-5C75-5768513BD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Now imagine putting on your macroeconomics hat and asking an agent a high-level question: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/>
              <a:t>“Compare today’s credit regime with 2010”  “That’s economics speak for How Easy Is It To Get a Loan from a Bank?”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There is no question that the model behind the agent can reason about economics.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Still, it  has choices.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It could explore and create a plan or use Reserve to get right at the data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 problem is it has absolutely no idea how to drive Reserve.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Unless...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Reserve can progressively teach it.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That became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1278456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00C9-B208-5B0F-5922-C4100A1B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E06BA-32FF-E8A0-355A-D744C5B22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FF9F1-F008-4A67-5B33-90E61AF7E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/>
              <a:t>Humans read documentation. . . .Agents consume structure.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When agents can’t find it, they spend tokens creating it.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Instead of assuming an agent would scrape a README or infer behavior from a HELP flag. Reserve publishes structured onboarding.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dirty="0">
                <a:latin typeface="Montserrat" pitchFamily="2" charset="77"/>
              </a:rPr>
              <a:t>&lt;CLICK&gt;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 onboarding starts with a simple TOC and then every command describes: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its identity, . . .its intent,. . .its context,. . . how to invoke it,. . .common mistakes,. . .and real pipeline examples.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/>
              <a:t>Instead of making the agent infer how Reserve works, Reserve teaches the agent how to use it. 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Additionally, its content is structured under a unified JSON schema to provide agents consistency throughout the command surface.</a:t>
            </a:r>
          </a:p>
        </p:txBody>
      </p:sp>
    </p:spTree>
    <p:extLst>
      <p:ext uri="{BB962C8B-B14F-4D97-AF65-F5344CB8AC3E}">
        <p14:creationId xmlns:p14="http://schemas.microsoft.com/office/powerpoint/2010/main" val="47701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166E-6E13-C721-C767-7CEC0E97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A7F23-F6EB-6B19-EEAC-E9084EB4C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AD01B-6FED-DC67-D578-778BB8747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/>
              <a:t>Now the agent has enough information to generate deterministic pipelines prior to reasoning about our credit regime ask.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It doesn’t invent APIs.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It doesn’t hallucinate syntax.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It doesn’t rely on trial and error.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It composes commands, exactly like a Unix experienced economist would.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The interesting part isn’t that it wrote a pipeline.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It’s that it wrote the </a:t>
            </a:r>
            <a:r>
              <a:rPr lang="en-US" sz="1400" i="1" dirty="0"/>
              <a:t>right</a:t>
            </a:r>
            <a:r>
              <a:rPr lang="en-US" sz="1400" dirty="0"/>
              <a:t> pipeline—including concurrency, the required flags, and the correct data format.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&lt;CLICK&gt;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The result is meaningful data for credit regime analysis.  I know this is a busy slide, but these 3 data points confirm that in 2010 the lending environments were fairly accessible.</a:t>
            </a: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7741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76F6-A392-4C3B-4EAF-B53B04BE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08705-5B16-3AD5-4979-43B9D5C2B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2FB61-6BE3-ADDF-17C7-11A70A448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Another part of this experiment was to analyze token usage based on the patterns.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Token conservation is a real consideration.  Even with a focused approach, the onboarding document requires about sixty thousand tokens to process.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But an agent almost never needs all of it.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It follows the table of contents and reads only the commands it's interested in.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For most interactions...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that's closer to twelve hundred tokens.  Because of the consistent JSON schema, the potential landscape of token relationships are greatly reduced.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The result is  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Smaller context.		Better focus.		Better reasoning.</a:t>
            </a:r>
          </a:p>
        </p:txBody>
      </p:sp>
    </p:spTree>
    <p:extLst>
      <p:ext uri="{BB962C8B-B14F-4D97-AF65-F5344CB8AC3E}">
        <p14:creationId xmlns:p14="http://schemas.microsoft.com/office/powerpoint/2010/main" val="2483344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EA639-4288-5F3E-9D7E-B3FA625E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6807C-28BA-F0C5-B821-49162F36E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6E6C0-3850-6ED8-017C-C920B56C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So...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Are Unix pipes better than agents?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Maybe that's the wrong question..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What this experiment convinced me of is something slightly different.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/>
              <a:t>Agents are good at reasoning.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CLIs are good at deterministic execution.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Rely less on hope and magic.  Give agents structure and allow them to connect what they need through composition.</a:t>
            </a:r>
          </a:p>
          <a:p>
            <a:pPr marL="158750" indent="0">
              <a:buNone/>
            </a:pPr>
            <a:endParaRPr lang="en-US" sz="1400" b="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Maybe the finding is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indent="0">
              <a:buNone/>
            </a:pPr>
            <a:r>
              <a:rPr lang="en-US" sz="1400" dirty="0">
                <a:latin typeface="Montserrat" pitchFamily="2" charset="77"/>
              </a:rPr>
              <a:t>&lt;CLICK&gt;</a:t>
            </a:r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400" dirty="0"/>
          </a:p>
          <a:p>
            <a:pPr marL="158750" indent="0">
              <a:buNone/>
            </a:pPr>
            <a:endParaRPr lang="en-US" sz="1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4098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B0D0-A6F0-545C-8801-FCB31B51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7FFD7-71B5-0C63-7006-8E261CCE1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4160D-C0A8-1D1C-E605-7A45F01A6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400" dirty="0"/>
              <a:t>If you’re interested in the implementation, Reserve is open source.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If you’re interested in the architectural ideas behind it, I’ve also published an accompanying paper.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The QR code will take you to these links and a copy of this presentation.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44047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 - Lef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49CB5F1-57D8-E3BF-8BAB-C126E86253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936" y="68580"/>
            <a:ext cx="8279443" cy="2143943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50">
                <a:solidFill>
                  <a:schemeClr val="tx1"/>
                </a:solidFill>
              </a:defRPr>
            </a:lvl1pPr>
            <a:lvl2pPr algn="l">
              <a:spcBef>
                <a:spcPts val="0"/>
              </a:spcBef>
              <a:defRPr sz="1350" baseline="0">
                <a:solidFill>
                  <a:schemeClr val="tx1"/>
                </a:solidFill>
                <a:latin typeface="Fira Code" panose="020B0809050000020004" pitchFamily="34" charset="0"/>
              </a:defRPr>
            </a:lvl2pPr>
            <a:lvl3pPr algn="ctr">
              <a:spcBef>
                <a:spcPts val="900"/>
              </a:spcBef>
              <a:defRPr sz="1350">
                <a:solidFill>
                  <a:schemeClr val="tx1"/>
                </a:solidFill>
              </a:defRPr>
            </a:lvl3pPr>
            <a:lvl4pPr algn="ctr">
              <a:spcBef>
                <a:spcPts val="900"/>
              </a:spcBef>
              <a:defRPr sz="1350">
                <a:solidFill>
                  <a:schemeClr val="tx1"/>
                </a:solidFill>
              </a:defRPr>
            </a:lvl4pPr>
            <a:lvl5pPr algn="ctr">
              <a:spcBef>
                <a:spcPts val="900"/>
              </a:spcBef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36101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ED12-B182-B322-4F27-FFA614F1D8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098" y="354524"/>
            <a:ext cx="4177902" cy="842234"/>
          </a:xfrm>
        </p:spPr>
        <p:txBody>
          <a:bodyPr anchor="t">
            <a:noAutofit/>
          </a:bodyPr>
          <a:lstStyle>
            <a:lvl1pPr algn="l">
              <a:lnSpc>
                <a:spcPts val="2100"/>
              </a:lnSpc>
              <a:defRPr sz="2250" b="1" i="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19D0F6-9905-F974-E939-93EB5B548A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4098" y="1200152"/>
            <a:ext cx="4177903" cy="3780234"/>
          </a:xfrm>
        </p:spPr>
        <p:txBody>
          <a:bodyPr/>
          <a:lstStyle>
            <a:lvl1pPr>
              <a:defRPr sz="1800" b="1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8C502E-AF5B-FCB4-DE77-8EB9FF308C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2245" y="1200152"/>
            <a:ext cx="4073977" cy="3780234"/>
          </a:xfrm>
        </p:spPr>
        <p:txBody>
          <a:bodyPr/>
          <a:lstStyle>
            <a:lvl1pPr>
              <a:defRPr sz="1800" b="1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6ACF7DD-F44E-05B6-A379-9FA06B51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2245" y="354523"/>
            <a:ext cx="4073977" cy="842234"/>
          </a:xfrm>
        </p:spPr>
        <p:txBody>
          <a:bodyPr/>
          <a:lstStyle>
            <a:lvl1pPr>
              <a:defRPr sz="2250" b="1" i="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 sz="2250"/>
            </a:lvl2pPr>
            <a:lvl3pPr>
              <a:defRPr sz="2250"/>
            </a:lvl3pPr>
            <a:lvl4pPr>
              <a:defRPr sz="2250"/>
            </a:lvl4pPr>
            <a:lvl5pPr>
              <a:defRPr sz="2250"/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0083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Bar - Half with grey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12;p363">
            <a:extLst>
              <a:ext uri="{FF2B5EF4-FFF2-40B4-BE49-F238E27FC236}">
                <a16:creationId xmlns:a16="http://schemas.microsoft.com/office/drawing/2014/main" id="{D37829FF-4F0E-E66E-269F-E37E2F3C5EA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8672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b="0" i="0" dirty="0">
              <a:latin typeface="Aptos" panose="020B00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49CB5F1-57D8-E3BF-8BAB-C126E86253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497" y="164375"/>
            <a:ext cx="8492456" cy="49550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baseline="0">
                <a:solidFill>
                  <a:schemeClr val="bg1"/>
                </a:solidFill>
                <a:latin typeface="Fira Code" panose="020B0809050000020004" pitchFamily="34" charset="0"/>
              </a:defRPr>
            </a:lvl1pPr>
            <a:lvl2pPr>
              <a:lnSpc>
                <a:spcPct val="90000"/>
              </a:lnSpc>
              <a:spcBef>
                <a:spcPts val="750"/>
              </a:spcBef>
              <a:defRPr sz="135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spcBef>
                <a:spcPts val="900"/>
              </a:spcBef>
              <a:defRPr sz="135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spcBef>
                <a:spcPts val="900"/>
              </a:spcBef>
              <a:defRPr sz="135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spcBef>
                <a:spcPts val="900"/>
              </a:spcBef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531AE0-B699-C880-77B3-9152DBEA12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" y="1112364"/>
            <a:ext cx="8831821" cy="3478490"/>
          </a:xfrm>
        </p:spPr>
        <p:txBody>
          <a:bodyPr/>
          <a:lstStyle>
            <a:lvl1pPr>
              <a:defRPr sz="1800" b="1" baseline="0">
                <a:solidFill>
                  <a:schemeClr val="tx1"/>
                </a:solidFill>
                <a:latin typeface="Fira Code" panose="020B0809050000020004" pitchFamily="34" charset="0"/>
              </a:defRPr>
            </a:lvl1pPr>
            <a:lvl2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Fira Code" panose="020B0809050000020004" pitchFamily="34" charset="0"/>
              </a:defRPr>
            </a:lvl2pPr>
            <a:lvl3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Fira Code" panose="020B0809050000020004" pitchFamily="34" charset="0"/>
              </a:defRPr>
            </a:lvl3pPr>
            <a:lvl4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Fira Code" panose="020B0809050000020004" pitchFamily="34" charset="0"/>
              </a:defRPr>
            </a:lvl4pPr>
            <a:lvl5pPr>
              <a:spcBef>
                <a:spcPts val="450"/>
              </a:spcBef>
              <a:defRPr sz="1050" baseline="0">
                <a:solidFill>
                  <a:schemeClr val="tx1"/>
                </a:solidFill>
                <a:latin typeface="Fira Code" panose="020B08090500000200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0654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5196D-F5B0-4339-670D-EE67E20A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D01A2-C5EB-722A-2D90-D7AB97BF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white line drawing of a computer screen&#10;&#10;AI-generated content may be incorrect.">
            <a:extLst>
              <a:ext uri="{FF2B5EF4-FFF2-40B4-BE49-F238E27FC236}">
                <a16:creationId xmlns:a16="http://schemas.microsoft.com/office/drawing/2014/main" id="{48075E12-6D77-ABE5-C41D-E241F3B1E6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99013" y="4708389"/>
            <a:ext cx="250110" cy="2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732" r:id="rId2"/>
    <p:sldLayoutId id="2147483977" r:id="rId3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 baseline="0">
          <a:solidFill>
            <a:schemeClr val="tx1"/>
          </a:solidFill>
          <a:latin typeface="Fira Code" panose="020B0809050000020004" pitchFamily="34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System Font Regular"/>
        <a:buNone/>
        <a:defRPr sz="1500" b="0" i="0" kern="1200" baseline="0">
          <a:solidFill>
            <a:schemeClr val="tx1"/>
          </a:solidFill>
          <a:latin typeface="Fira Code" panose="020B0809050000020004" pitchFamily="34" charset="0"/>
          <a:ea typeface="+mn-ea"/>
          <a:cs typeface="+mn-cs"/>
        </a:defRPr>
      </a:lvl1pPr>
      <a:lvl2pPr marL="0" indent="0" algn="l" defTabSz="685800" rtl="0" eaLnBrk="1" latinLnBrk="0" hangingPunct="1">
        <a:lnSpc>
          <a:spcPct val="90000"/>
        </a:lnSpc>
        <a:spcBef>
          <a:spcPts val="375"/>
        </a:spcBef>
        <a:buFont typeface="System Font Regular"/>
        <a:buNone/>
        <a:defRPr sz="975" b="0" i="0" kern="1200" baseline="0">
          <a:solidFill>
            <a:schemeClr val="tx1"/>
          </a:solidFill>
          <a:latin typeface="Fira Code" panose="020B0809050000020004" pitchFamily="34" charset="0"/>
          <a:ea typeface="+mn-ea"/>
          <a:cs typeface="+mn-cs"/>
        </a:defRPr>
      </a:lvl2pPr>
      <a:lvl3pPr marL="342900" indent="-171450" algn="l" defTabSz="685800" rtl="0" eaLnBrk="1" latinLnBrk="0" hangingPunct="1">
        <a:lnSpc>
          <a:spcPct val="90000"/>
        </a:lnSpc>
        <a:spcBef>
          <a:spcPts val="375"/>
        </a:spcBef>
        <a:buFont typeface="System Font Regular"/>
        <a:buChar char="-"/>
        <a:defRPr sz="975" b="0" i="0" kern="1200" baseline="0">
          <a:solidFill>
            <a:schemeClr val="tx1"/>
          </a:solidFill>
          <a:latin typeface="Fira Code" panose="020B0809050000020004" pitchFamily="34" charset="0"/>
          <a:ea typeface="+mn-ea"/>
          <a:cs typeface="+mn-cs"/>
        </a:defRPr>
      </a:lvl3pPr>
      <a:lvl4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75" b="0" i="0" kern="1200" baseline="0">
          <a:solidFill>
            <a:schemeClr val="tx1"/>
          </a:solidFill>
          <a:latin typeface="Fira Code" panose="020B0809050000020004" pitchFamily="34" charset="0"/>
          <a:ea typeface="+mn-ea"/>
          <a:cs typeface="+mn-cs"/>
        </a:defRPr>
      </a:lvl4pPr>
      <a:lvl5pPr marL="685800" indent="-171450" algn="l" defTabSz="685800" rtl="0" eaLnBrk="1" latinLnBrk="0" hangingPunct="1">
        <a:lnSpc>
          <a:spcPct val="90000"/>
        </a:lnSpc>
        <a:spcBef>
          <a:spcPts val="375"/>
        </a:spcBef>
        <a:buFont typeface="System Font Regular"/>
        <a:buChar char="-"/>
        <a:defRPr sz="975" b="0" i="0" kern="1200" baseline="0">
          <a:solidFill>
            <a:schemeClr val="tx1"/>
          </a:solidFill>
          <a:latin typeface="Fira Code" panose="020B08090500000200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chaeferauthor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github.com/derickschaefer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5033-A928-F094-03B4-5BC098DD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F1650-38C0-3C06-12CF-536BA0E2C4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9144000" cy="2143943"/>
          </a:xfrm>
        </p:spPr>
        <p:txBody>
          <a:bodyPr/>
          <a:lstStyle/>
          <a:p>
            <a:pPr algn="ctr"/>
            <a:r>
              <a:rPr lang="en-US" sz="2400" dirty="0"/>
              <a:t>Unix Pipes Are Better Than Agents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D587B-25DC-4712-4221-EC8FB6222D1E}"/>
              </a:ext>
            </a:extLst>
          </p:cNvPr>
          <p:cNvSpPr txBox="1"/>
          <p:nvPr/>
        </p:nvSpPr>
        <p:spPr>
          <a:xfrm>
            <a:off x="283226" y="3154964"/>
            <a:ext cx="37208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tx1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DERICK SCHAEFER</a:t>
            </a:r>
          </a:p>
          <a:p>
            <a:pPr lvl="1"/>
            <a:r>
              <a:rPr lang="en-US" sz="1200" dirty="0">
                <a:solidFill>
                  <a:schemeClr val="tx1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Technology Leader, Developer, Author</a:t>
            </a:r>
          </a:p>
          <a:p>
            <a:pPr lvl="1"/>
            <a:endParaRPr lang="en-US" sz="1200" dirty="0">
              <a:solidFill>
                <a:schemeClr val="tx1"/>
              </a:solidFill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Gopher Con 2026</a:t>
            </a:r>
          </a:p>
          <a:p>
            <a:endParaRPr lang="en-US" dirty="0"/>
          </a:p>
        </p:txBody>
      </p:sp>
      <p:pic>
        <p:nvPicPr>
          <p:cNvPr id="8" name="Picture 7" descr="pipe icon">
            <a:extLst>
              <a:ext uri="{FF2B5EF4-FFF2-40B4-BE49-F238E27FC236}">
                <a16:creationId xmlns:a16="http://schemas.microsoft.com/office/drawing/2014/main" id="{79EDDAC5-6446-2ADB-28B4-E07295139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41" y="1938671"/>
            <a:ext cx="1216293" cy="12162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5C0CE2-1BD5-A7DE-C252-E22F36247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503" y="1643233"/>
            <a:ext cx="1035600" cy="767368"/>
          </a:xfrm>
          <a:prstGeom prst="rect">
            <a:avLst/>
          </a:prstGeom>
        </p:spPr>
      </p:pic>
      <p:pic>
        <p:nvPicPr>
          <p:cNvPr id="15" name="Picture 14" descr="json icon">
            <a:extLst>
              <a:ext uri="{FF2B5EF4-FFF2-40B4-BE49-F238E27FC236}">
                <a16:creationId xmlns:a16="http://schemas.microsoft.com/office/drawing/2014/main" id="{1946CCEA-98B5-91DE-48F0-B4DFC27B3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982" y="2749024"/>
            <a:ext cx="973891" cy="9738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DB3623-8653-8AEF-0E76-B4680784C810}"/>
              </a:ext>
            </a:extLst>
          </p:cNvPr>
          <p:cNvSpPr/>
          <p:nvPr/>
        </p:nvSpPr>
        <p:spPr>
          <a:xfrm>
            <a:off x="4135990" y="1426409"/>
            <a:ext cx="4267200" cy="2601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9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3F07-6857-FAFB-055E-0DDB1650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3E0281-2D94-0AEC-196A-001C7EC008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Shifting Boundary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758CA-5574-8285-4C0A-1C3E7C745654}"/>
              </a:ext>
            </a:extLst>
          </p:cNvPr>
          <p:cNvSpPr txBox="1"/>
          <p:nvPr/>
        </p:nvSpPr>
        <p:spPr>
          <a:xfrm>
            <a:off x="2865628" y="1082344"/>
            <a:ext cx="366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Agentic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20428-CD79-04C1-EBF2-66545E385D82}"/>
              </a:ext>
            </a:extLst>
          </p:cNvPr>
          <p:cNvSpPr txBox="1"/>
          <p:nvPr/>
        </p:nvSpPr>
        <p:spPr>
          <a:xfrm>
            <a:off x="2865628" y="1080530"/>
            <a:ext cx="366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Unix Pipe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6EEC33-C37B-5955-0892-5849BBEF01C2}"/>
              </a:ext>
            </a:extLst>
          </p:cNvPr>
          <p:cNvGrpSpPr/>
          <p:nvPr/>
        </p:nvGrpSpPr>
        <p:grpSpPr>
          <a:xfrm>
            <a:off x="2697561" y="1757681"/>
            <a:ext cx="4403303" cy="3101968"/>
            <a:chOff x="460123" y="1855653"/>
            <a:chExt cx="4403303" cy="310196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2C11C4-F5A4-C280-0397-FFCFDFCE27C5}"/>
                </a:ext>
              </a:extLst>
            </p:cNvPr>
            <p:cNvSpPr/>
            <p:nvPr/>
          </p:nvSpPr>
          <p:spPr>
            <a:xfrm>
              <a:off x="470257" y="1855653"/>
              <a:ext cx="976374" cy="6169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Economics Question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C46A47-B31E-FC67-3417-5A123F608B2A}"/>
                </a:ext>
              </a:extLst>
            </p:cNvPr>
            <p:cNvSpPr/>
            <p:nvPr/>
          </p:nvSpPr>
          <p:spPr>
            <a:xfrm>
              <a:off x="1857902" y="1859539"/>
              <a:ext cx="1646344" cy="6169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Agent 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(Reason &amp; Search)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55E1F-386B-F6C9-BB0C-C5CDF5189D61}"/>
                </a:ext>
              </a:extLst>
            </p:cNvPr>
            <p:cNvSpPr/>
            <p:nvPr/>
          </p:nvSpPr>
          <p:spPr>
            <a:xfrm>
              <a:off x="460123" y="2827979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Headlines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CC27A5-89E7-E609-1754-0689F0734790}"/>
                </a:ext>
              </a:extLst>
            </p:cNvPr>
            <p:cNvSpPr/>
            <p:nvPr/>
          </p:nvSpPr>
          <p:spPr>
            <a:xfrm>
              <a:off x="1614591" y="2839211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Reports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5F4D7C-2475-98A8-9FA5-4D8411E26492}"/>
                </a:ext>
              </a:extLst>
            </p:cNvPr>
            <p:cNvSpPr/>
            <p:nvPr/>
          </p:nvSpPr>
          <p:spPr>
            <a:xfrm>
              <a:off x="2769059" y="2858215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Data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6E551BA-9617-271B-73BC-B118887D5C0B}"/>
                </a:ext>
              </a:extLst>
            </p:cNvPr>
            <p:cNvSpPr/>
            <p:nvPr/>
          </p:nvSpPr>
          <p:spPr>
            <a:xfrm>
              <a:off x="3887051" y="2849054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API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2C55C0-112C-EB1F-83B7-CEF6BD5B1898}"/>
                </a:ext>
              </a:extLst>
            </p:cNvPr>
            <p:cNvSpPr/>
            <p:nvPr/>
          </p:nvSpPr>
          <p:spPr>
            <a:xfrm>
              <a:off x="1857902" y="3632339"/>
              <a:ext cx="1646344" cy="6169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Agent 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(Reasoning)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BEFA37-FA9F-57AC-10BE-7E4E5BC912C1}"/>
                </a:ext>
              </a:extLst>
            </p:cNvPr>
            <p:cNvSpPr/>
            <p:nvPr/>
          </p:nvSpPr>
          <p:spPr>
            <a:xfrm>
              <a:off x="2192885" y="4603237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Answer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C21CF15-17AA-2B35-FD45-491764A2EDD1}"/>
                </a:ext>
              </a:extLst>
            </p:cNvPr>
            <p:cNvCxnSpPr>
              <a:stCxn id="3" idx="3"/>
              <a:endCxn id="9" idx="1"/>
            </p:cNvCxnSpPr>
            <p:nvPr/>
          </p:nvCxnSpPr>
          <p:spPr>
            <a:xfrm>
              <a:off x="1446631" y="2164125"/>
              <a:ext cx="411271" cy="3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45CD178-60DD-A4F8-650C-888D98907B34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2681073" y="2476483"/>
              <a:ext cx="1" cy="31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2BD1D33-9C46-CF76-3213-DD8D429F9C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5260" y="3269410"/>
              <a:ext cx="1" cy="31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3E1273D-0354-D08A-FA2B-22CD8A3E5B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8414" y="4246529"/>
              <a:ext cx="1" cy="31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918440-1742-052F-E9EF-9C6E7ADA5D0F}"/>
              </a:ext>
            </a:extLst>
          </p:cNvPr>
          <p:cNvGrpSpPr/>
          <p:nvPr/>
        </p:nvGrpSpPr>
        <p:grpSpPr>
          <a:xfrm>
            <a:off x="2752392" y="1765498"/>
            <a:ext cx="4176626" cy="3101968"/>
            <a:chOff x="470257" y="1855653"/>
            <a:chExt cx="4176626" cy="310196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12BF16-0248-E821-103B-28C541352949}"/>
                </a:ext>
              </a:extLst>
            </p:cNvPr>
            <p:cNvSpPr/>
            <p:nvPr/>
          </p:nvSpPr>
          <p:spPr>
            <a:xfrm>
              <a:off x="470257" y="1855653"/>
              <a:ext cx="976374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Economics Question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E2CF5E-B573-E8BA-B7D0-0F095AE4A9B8}"/>
                </a:ext>
              </a:extLst>
            </p:cNvPr>
            <p:cNvSpPr/>
            <p:nvPr/>
          </p:nvSpPr>
          <p:spPr>
            <a:xfrm>
              <a:off x="1857902" y="1859539"/>
              <a:ext cx="1646344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Agent 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(CLI Invocation)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75697D-AC2F-FD3C-3F8E-8DD50EB7B194}"/>
                </a:ext>
              </a:extLst>
            </p:cNvPr>
            <p:cNvSpPr/>
            <p:nvPr/>
          </p:nvSpPr>
          <p:spPr>
            <a:xfrm>
              <a:off x="729944" y="2686861"/>
              <a:ext cx="976375" cy="49550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CLI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get data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3A5E6E1-0631-8779-D6B1-B1715269BC74}"/>
                </a:ext>
              </a:extLst>
            </p:cNvPr>
            <p:cNvSpPr/>
            <p:nvPr/>
          </p:nvSpPr>
          <p:spPr>
            <a:xfrm>
              <a:off x="1857902" y="3632339"/>
              <a:ext cx="1646344" cy="6169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Agent 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(Reasoning)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B106C8-F21E-C2F2-1A7E-733257365213}"/>
                </a:ext>
              </a:extLst>
            </p:cNvPr>
            <p:cNvSpPr/>
            <p:nvPr/>
          </p:nvSpPr>
          <p:spPr>
            <a:xfrm>
              <a:off x="2192885" y="4603237"/>
              <a:ext cx="976375" cy="3543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Answer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8E647F5-83A5-1AD5-7F47-A168EE141A8B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1446631" y="2086486"/>
              <a:ext cx="411271" cy="3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2C61594-0CF6-D42B-D97D-B446F23B7B17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>
              <a:off x="2675260" y="2321204"/>
              <a:ext cx="5814" cy="2689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8FB5FC9-2D5E-843F-DDB5-2FA0988E46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5260" y="3269410"/>
              <a:ext cx="1" cy="31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A909550-BCF2-0C28-C05E-F4C05161A8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8414" y="4246529"/>
              <a:ext cx="1" cy="31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107695-9EAD-7C06-C032-3E29E25A4F5B}"/>
                </a:ext>
              </a:extLst>
            </p:cNvPr>
            <p:cNvSpPr/>
            <p:nvPr/>
          </p:nvSpPr>
          <p:spPr>
            <a:xfrm>
              <a:off x="2200226" y="2686861"/>
              <a:ext cx="976375" cy="49550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CLI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transform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D8773C9-07A1-15B4-0F4A-7BB03B115528}"/>
                </a:ext>
              </a:extLst>
            </p:cNvPr>
            <p:cNvSpPr/>
            <p:nvPr/>
          </p:nvSpPr>
          <p:spPr>
            <a:xfrm>
              <a:off x="3670508" y="2686861"/>
              <a:ext cx="976375" cy="49550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CLI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analyze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222558-88AD-0091-E7EC-0B4D66226524}"/>
                </a:ext>
              </a:extLst>
            </p:cNvPr>
            <p:cNvCxnSpPr/>
            <p:nvPr/>
          </p:nvCxnSpPr>
          <p:spPr>
            <a:xfrm>
              <a:off x="1972248" y="2702575"/>
              <a:ext cx="0" cy="46407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F923F47-E65D-AE14-0B86-DFA1F9806964}"/>
                </a:ext>
              </a:extLst>
            </p:cNvPr>
            <p:cNvCxnSpPr/>
            <p:nvPr/>
          </p:nvCxnSpPr>
          <p:spPr>
            <a:xfrm>
              <a:off x="3367999" y="2718290"/>
              <a:ext cx="0" cy="46407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FED076E-B192-EF9C-3A56-96BCCA8C88A9}"/>
                </a:ext>
              </a:extLst>
            </p:cNvPr>
            <p:cNvCxnSpPr>
              <a:cxnSpLocks/>
            </p:cNvCxnSpPr>
            <p:nvPr/>
          </p:nvCxnSpPr>
          <p:spPr>
            <a:xfrm>
              <a:off x="1746579" y="2925403"/>
              <a:ext cx="411271" cy="3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8AA0C6D-FC71-5285-D2FD-E2FAB7A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3198942" y="2950326"/>
              <a:ext cx="411271" cy="3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207643D-B26A-DE8F-DA28-B7A7B0ADEB91}"/>
              </a:ext>
            </a:extLst>
          </p:cNvPr>
          <p:cNvSpPr/>
          <p:nvPr/>
        </p:nvSpPr>
        <p:spPr>
          <a:xfrm>
            <a:off x="2487809" y="2434504"/>
            <a:ext cx="4849777" cy="85521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573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AE60-190B-FE15-1AAE-BD96395A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DBE5D2-7560-E67D-01EB-DB8DDFC297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Unix Philosophy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D0243-1CE3-5128-A100-A874DC22FCFF}"/>
              </a:ext>
            </a:extLst>
          </p:cNvPr>
          <p:cNvSpPr txBox="1"/>
          <p:nvPr/>
        </p:nvSpPr>
        <p:spPr>
          <a:xfrm>
            <a:off x="2264229" y="2221956"/>
            <a:ext cx="4615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Do one thing well.</a:t>
            </a:r>
          </a:p>
          <a:p>
            <a:r>
              <a:rPr lang="en-US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</a:t>
            </a:r>
          </a:p>
          <a:p>
            <a:r>
              <a:rPr lang="en-US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Work well with others.</a:t>
            </a:r>
          </a:p>
        </p:txBody>
      </p:sp>
    </p:spTree>
    <p:extLst>
      <p:ext uri="{BB962C8B-B14F-4D97-AF65-F5344CB8AC3E}">
        <p14:creationId xmlns:p14="http://schemas.microsoft.com/office/powerpoint/2010/main" val="54383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5E07-7E01-491C-89EB-63406CB0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2ED3DA-9E25-6241-D8C1-75C9989DB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Reserve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B14704-6857-B67D-26FB-58F346CC40B9}"/>
              </a:ext>
            </a:extLst>
          </p:cNvPr>
          <p:cNvGrpSpPr/>
          <p:nvPr/>
        </p:nvGrpSpPr>
        <p:grpSpPr>
          <a:xfrm>
            <a:off x="246460" y="1984790"/>
            <a:ext cx="8459773" cy="1388809"/>
            <a:chOff x="268972" y="1145136"/>
            <a:chExt cx="8459773" cy="138880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38D174-9DBC-42FE-5E47-A980EE38F718}"/>
                </a:ext>
              </a:extLst>
            </p:cNvPr>
            <p:cNvSpPr/>
            <p:nvPr/>
          </p:nvSpPr>
          <p:spPr>
            <a:xfrm>
              <a:off x="268972" y="1148168"/>
              <a:ext cx="2545248" cy="138577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100" b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Get Data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i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&lt;noun&gt; &lt;verb&gt;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obs get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series list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release get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66B94C-0A99-6E9B-B966-BBE3444FB36E}"/>
                </a:ext>
              </a:extLst>
            </p:cNvPr>
            <p:cNvSpPr/>
            <p:nvPr/>
          </p:nvSpPr>
          <p:spPr>
            <a:xfrm>
              <a:off x="3211241" y="1145136"/>
              <a:ext cx="2545248" cy="138577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100" b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Transformation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i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&lt;verb&gt; &lt;verb&gt;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transform pct-change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transform normalize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release get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76044D-CFC4-7A16-2536-45C2D061A2CD}"/>
                </a:ext>
              </a:extLst>
            </p:cNvPr>
            <p:cNvSpPr/>
            <p:nvPr/>
          </p:nvSpPr>
          <p:spPr>
            <a:xfrm>
              <a:off x="6183497" y="1145136"/>
              <a:ext cx="2545248" cy="138577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100" b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Analysis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i="1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&lt;verb&gt; &lt;noun&gt;</a:t>
              </a:r>
              <a:endParaRPr lang="en-US" sz="11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analyze summary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analyze correlation</a:t>
              </a:r>
            </a:p>
            <a:p>
              <a:pPr algn="ctr"/>
              <a:r>
                <a:rPr lang="en-US" sz="1100" dirty="0">
                  <a:latin typeface="Fira Code" panose="020B0809050000020004" pitchFamily="34" charset="0"/>
                  <a:ea typeface="Fira Code" panose="020B0809050000020004" pitchFamily="34" charset="0"/>
                  <a:cs typeface="Fira Code" panose="020B0809050000020004" pitchFamily="34" charset="0"/>
                </a:rPr>
                <a:t>reserve chart bar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0189B4-DB1D-CF27-870D-E42FA28A3CA5}"/>
              </a:ext>
            </a:extLst>
          </p:cNvPr>
          <p:cNvSpPr txBox="1"/>
          <p:nvPr/>
        </p:nvSpPr>
        <p:spPr>
          <a:xfrm>
            <a:off x="3203723" y="1048622"/>
            <a:ext cx="2545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Command Surface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8A3D0E-903F-CE8D-F07A-8C0C6DB93D9D}"/>
              </a:ext>
            </a:extLst>
          </p:cNvPr>
          <p:cNvSpPr/>
          <p:nvPr/>
        </p:nvSpPr>
        <p:spPr>
          <a:xfrm>
            <a:off x="427387" y="3611487"/>
            <a:ext cx="8207566" cy="6518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&gt; reserve obs get | reserve transform pct-change | reserve analyze 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16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C26E-51AE-E507-32AF-4B3CE700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2DAC95-489C-B440-D236-57CB59279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 Economics Assignment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A1F0D-703E-967B-6345-7834970BD8C2}"/>
              </a:ext>
            </a:extLst>
          </p:cNvPr>
          <p:cNvSpPr txBox="1"/>
          <p:nvPr/>
        </p:nvSpPr>
        <p:spPr>
          <a:xfrm>
            <a:off x="142497" y="2566742"/>
            <a:ext cx="8865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Compare today's credit regime with 2010. . .</a:t>
            </a:r>
          </a:p>
        </p:txBody>
      </p:sp>
    </p:spTree>
    <p:extLst>
      <p:ext uri="{BB962C8B-B14F-4D97-AF65-F5344CB8AC3E}">
        <p14:creationId xmlns:p14="http://schemas.microsoft.com/office/powerpoint/2010/main" val="44516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4580-0190-8A62-36C6-05616E18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A33291-54C6-D794-3FC1-ADDFD76221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Documentation Problem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318837-46C8-68A2-5A78-124873CF0FBA}"/>
              </a:ext>
            </a:extLst>
          </p:cNvPr>
          <p:cNvGrpSpPr/>
          <p:nvPr/>
        </p:nvGrpSpPr>
        <p:grpSpPr>
          <a:xfrm>
            <a:off x="1656945" y="944794"/>
            <a:ext cx="5830109" cy="4060371"/>
            <a:chOff x="2454170" y="541563"/>
            <a:chExt cx="5830109" cy="406037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8ED2D6C-4BD9-7E7D-D6F0-2D0D35AEE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4170" y="541563"/>
              <a:ext cx="3649099" cy="40603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6C7D35-A2A2-D31D-7DC8-480C5632A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3269" y="1588860"/>
              <a:ext cx="2181010" cy="1965779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A68090-87FC-2E34-EB8C-F7499AD5CF7D}"/>
              </a:ext>
            </a:extLst>
          </p:cNvPr>
          <p:cNvGrpSpPr/>
          <p:nvPr/>
        </p:nvGrpSpPr>
        <p:grpSpPr>
          <a:xfrm>
            <a:off x="2108759" y="1059344"/>
            <a:ext cx="4559932" cy="3945821"/>
            <a:chOff x="1260100" y="354330"/>
            <a:chExt cx="5555130" cy="47891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63A864-DFBC-B2EA-970D-79FF8FEA0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60100" y="354330"/>
              <a:ext cx="2274222" cy="478917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2FB2D50-BC08-6C98-B007-4920A423B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18452" y="982980"/>
              <a:ext cx="3196778" cy="353187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6078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26A5-B171-7F09-73EE-CBA585E6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D34B5C-FE4C-B9C4-A201-CE67E1388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Precise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29F58-E895-9F40-EE0F-8816BF67C14C}"/>
              </a:ext>
            </a:extLst>
          </p:cNvPr>
          <p:cNvSpPr/>
          <p:nvPr/>
        </p:nvSpPr>
        <p:spPr>
          <a:xfrm>
            <a:off x="427387" y="2093205"/>
            <a:ext cx="8207566" cy="15643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reserve obs get BAA10YM DRTSCLCC DRTSCILM \</a:t>
            </a:r>
          </a:p>
          <a:p>
            <a:pPr algn="ctr"/>
            <a:r>
              <a:rPr lang="en-US" sz="1600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  --start 2010-01-01 --end 2010-12-31 --</a:t>
            </a:r>
            <a:r>
              <a:rPr lang="en-US" sz="1600" dirty="0" err="1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freq</a:t>
            </a:r>
            <a:r>
              <a:rPr lang="en-US" sz="1600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 q --format </a:t>
            </a:r>
            <a:r>
              <a:rPr lang="en-US" sz="1600" dirty="0" err="1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jsonl</a:t>
            </a:r>
            <a:r>
              <a:rPr lang="en-US" sz="1600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 \</a:t>
            </a:r>
          </a:p>
          <a:p>
            <a:pPr algn="ctr"/>
            <a:r>
              <a:rPr lang="en-US" sz="1600" dirty="0">
                <a:latin typeface="Fira Code Medium" panose="020B0809050000020004" pitchFamily="34" charset="0"/>
                <a:ea typeface="Fira Code Medium" panose="020B0809050000020004" pitchFamily="34" charset="0"/>
                <a:cs typeface="Fira Code Medium" panose="020B0809050000020004" pitchFamily="34" charset="0"/>
              </a:rPr>
              <a:t>| reserve analyze summary --by-series</a:t>
            </a: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82919-DF3C-0645-2F45-44349A159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41" y="1240662"/>
            <a:ext cx="8414657" cy="29751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892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DAB34-679C-9B0A-B76D-5920D66B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40A5CF-4AB5-B2A9-28BD-8FFBF802B2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Token Conservation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E8BBE-013B-B512-E2DA-0E69A2E0BFA6}"/>
              </a:ext>
            </a:extLst>
          </p:cNvPr>
          <p:cNvSpPr txBox="1"/>
          <p:nvPr/>
        </p:nvSpPr>
        <p:spPr>
          <a:xfrm>
            <a:off x="308919" y="1248032"/>
            <a:ext cx="375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reserve onboard --topic all</a:t>
            </a:r>
          </a:p>
          <a:p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ABABF9-5BA0-8392-75A0-A5B2FE5752C4}"/>
              </a:ext>
            </a:extLst>
          </p:cNvPr>
          <p:cNvSpPr txBox="1"/>
          <p:nvPr/>
        </p:nvSpPr>
        <p:spPr>
          <a:xfrm>
            <a:off x="432488" y="1886799"/>
            <a:ext cx="32745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2,700 lines of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30K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200K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Estimated 60K tokens required to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3.6B potential token relationships</a:t>
            </a:r>
          </a:p>
          <a:p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1A0D9A-C66C-1FD8-D9A4-43AE772C161B}"/>
              </a:ext>
            </a:extLst>
          </p:cNvPr>
          <p:cNvSpPr txBox="1"/>
          <p:nvPr/>
        </p:nvSpPr>
        <p:spPr>
          <a:xfrm>
            <a:off x="4388725" y="1248031"/>
            <a:ext cx="375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reserve obs get --ai-onboard</a:t>
            </a:r>
          </a:p>
          <a:p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8A637-92BA-E88A-CF31-E9B0AA35028A}"/>
              </a:ext>
            </a:extLst>
          </p:cNvPr>
          <p:cNvSpPr txBox="1"/>
          <p:nvPr/>
        </p:nvSpPr>
        <p:spPr>
          <a:xfrm>
            <a:off x="4388725" y="1886798"/>
            <a:ext cx="32745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500 word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1200 token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21 commands sharing consistent JSON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98% reduction in token relationships</a:t>
            </a:r>
          </a:p>
          <a:p>
            <a:endParaRPr lang="en-US" sz="16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49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F18E-6482-1805-1093-B53C2F62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CE956-C9BF-F096-C2AA-B31B497B11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F3C031-8554-09EB-DF5C-FEF44B27F7ED}"/>
              </a:ext>
            </a:extLst>
          </p:cNvPr>
          <p:cNvSpPr txBox="1"/>
          <p:nvPr/>
        </p:nvSpPr>
        <p:spPr>
          <a:xfrm>
            <a:off x="1495465" y="2560534"/>
            <a:ext cx="601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"Unix Pipes Are Better Than Agents."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AA6BB-5E4C-D5CC-18F9-DDADEBB17DCE}"/>
              </a:ext>
            </a:extLst>
          </p:cNvPr>
          <p:cNvSpPr txBox="1"/>
          <p:nvPr/>
        </p:nvSpPr>
        <p:spPr>
          <a:xfrm>
            <a:off x="1495465" y="2571750"/>
            <a:ext cx="5387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&gt; “Unix Pipes Make Better Agents."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39F47-53AB-248E-13CE-20628A24C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7" y="4211757"/>
            <a:ext cx="1035600" cy="7673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361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1237-411D-0068-C470-D8314D67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C01BB-BB7B-E15D-9F3B-004D500B4818}"/>
              </a:ext>
            </a:extLst>
          </p:cNvPr>
          <p:cNvSpPr txBox="1"/>
          <p:nvPr/>
        </p:nvSpPr>
        <p:spPr>
          <a:xfrm>
            <a:off x="318716" y="2156251"/>
            <a:ext cx="4982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Derick Schaefer</a:t>
            </a:r>
          </a:p>
          <a:p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  <a:hlinkClick r:id="rId3"/>
              </a:rPr>
              <a:t>schaeferauthor@gmail.com</a:t>
            </a:r>
            <a:endParaRPr lang="en-US" sz="18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  <a:hlinkClick r:id="rId4"/>
              </a:rPr>
              <a:t>https://github.com/derickschaefer/</a:t>
            </a:r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AE7B5-7E4A-D3A8-9561-38B79C446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715" y="1513228"/>
            <a:ext cx="2210785" cy="22107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38CCE5-EBAB-82DD-F43C-6F953A20C169}"/>
              </a:ext>
            </a:extLst>
          </p:cNvPr>
          <p:cNvSpPr txBox="1"/>
          <p:nvPr/>
        </p:nvSpPr>
        <p:spPr>
          <a:xfrm>
            <a:off x="1177157" y="410270"/>
            <a:ext cx="6789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RESERVE &amp; Repository Architecture Proposal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6B51C-1E38-06DC-AA59-8AABD56E9739}"/>
              </a:ext>
            </a:extLst>
          </p:cNvPr>
          <p:cNvSpPr txBox="1"/>
          <p:nvPr/>
        </p:nvSpPr>
        <p:spPr>
          <a:xfrm>
            <a:off x="1" y="4620280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Not affiliated with nor endorsed by Federal Reserve Bank of St. Louis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32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4DB5A-976F-9C00-D199-DA4FFC6A58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RESERVE Onboarding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651A7-472A-D38B-2748-3E54E3785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/>
              <a:t>Visual Studio Code or Claude Code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Prompt the agent, “I am going to use RESERVE to get some data.  Onboard yourself with ./reserve onboard –topic toc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pPr lvl="1">
              <a:spcBef>
                <a:spcPts val="750"/>
              </a:spcBef>
            </a:pPr>
            <a:r>
              <a:rPr lang="en-US" sz="1800" dirty="0"/>
              <a:t>Claude or Chat GPT UI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reserve onboard export ./onboard &lt;directory&gt;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Upload the JSON files from &lt;directory&gt; into the project repo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Prompt the agent to get up to speed on RESERVE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pPr lvl="1">
              <a:spcBef>
                <a:spcPts val="750"/>
              </a:spcBef>
            </a:pPr>
            <a:r>
              <a:rPr lang="en-US" sz="1800" dirty="0"/>
              <a:t>Command Level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reserve onboard </a:t>
            </a:r>
            <a:r>
              <a:rPr lang="en-US" sz="1600" dirty="0" err="1"/>
              <a:t>obs</a:t>
            </a:r>
            <a:endParaRPr lang="en-US" sz="1600" dirty="0"/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Reserve onboard transform</a:t>
            </a:r>
          </a:p>
          <a:p>
            <a:pPr marL="6286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Reserve onboard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77621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D7B0-C4F2-66B4-44AD-1BD6E577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8160D7-D0FE-1545-A50A-A86529793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Credit Regime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83010-CC39-FE8A-73B6-8B0CB9CA9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spreads were narrower in 2025: </a:t>
            </a:r>
            <a:r>
              <a:rPr lang="en-US" sz="1400" b="0" dirty="0"/>
              <a:t>BAA10YM averaged about 1.71% in 2025 versus 2.83% in 2010, suggesting lower perceived credit risk or less compensation demanded by investors.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Bank lending standards were much tighter in 2025: </a:t>
            </a:r>
            <a:r>
              <a:rPr lang="en-US" sz="1400" b="0" dirty="0"/>
              <a:t>DRTSCILM moved from a mean of about -7.98 in 2010 to +10.18 in 2025, meaning C&amp;I lending standards shifted from easing to tightening.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Consumer credit standards also tightened: </a:t>
            </a:r>
            <a:r>
              <a:rPr lang="en-US" sz="1400" b="0" dirty="0"/>
              <a:t>DRTSCLCC moved from about -1.50 in 2010 to +7.40 in 2025, indicating a clear move from looser to tighter credit-card underwriting.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The overall regime shifted from a post-crisis, easing/repair backdrop in 2010 to a more selective, tighter-credit environment in 2025</a:t>
            </a:r>
            <a:r>
              <a:rPr lang="en-US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r>
              <a:rPr lang="en-US" sz="1100" b="0" dirty="0"/>
              <a:t>BAA10YM - Baa Corporate Bond Spread (10Y Treasury)</a:t>
            </a:r>
          </a:p>
          <a:p>
            <a:r>
              <a:rPr lang="en-US" sz="1100" b="0" dirty="0"/>
              <a:t>DRTSCILM - Banks Tightening C&amp;I Loan Standards</a:t>
            </a:r>
          </a:p>
          <a:p>
            <a:r>
              <a:rPr lang="en-US" sz="1100" b="0" dirty="0"/>
              <a:t>DRTSCLCC - Banks Tightening Credit Card Standards</a:t>
            </a:r>
          </a:p>
          <a:p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730626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"/>
</p:tagLst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1D8DDD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 Op General PPT Template-040125" id="{28997564-57DB-A240-95AC-9BFC0526FAED}" vid="{32027C02-F91A-9E43-8DA1-4BE13B0EDD9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aa56f5-d5f8-4847-a833-4a759c597d6f">
      <Terms xmlns="http://schemas.microsoft.com/office/infopath/2007/PartnerControls"/>
    </lcf76f155ced4ddcb4097134ff3c332f>
    <TaxCatchAll xmlns="2957dfc4-fb7e-493e-b2cf-12be7e91d0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8477AC93F3F5439405C28A6AF92E37" ma:contentTypeVersion="11" ma:contentTypeDescription="Create a new document." ma:contentTypeScope="" ma:versionID="cf903846707b43439953e483971b50f8">
  <xsd:schema xmlns:xsd="http://www.w3.org/2001/XMLSchema" xmlns:xs="http://www.w3.org/2001/XMLSchema" xmlns:p="http://schemas.microsoft.com/office/2006/metadata/properties" xmlns:ns2="e3aa56f5-d5f8-4847-a833-4a759c597d6f" xmlns:ns3="2957dfc4-fb7e-493e-b2cf-12be7e91d054" targetNamespace="http://schemas.microsoft.com/office/2006/metadata/properties" ma:root="true" ma:fieldsID="d32a5454015bc5ab5f495e44d5075a05" ns2:_="" ns3:_="">
    <xsd:import namespace="e3aa56f5-d5f8-4847-a833-4a759c597d6f"/>
    <xsd:import namespace="2957dfc4-fb7e-493e-b2cf-12be7e91d0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aa56f5-d5f8-4847-a833-4a759c597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c60466-359a-47e7-91c1-292ef7d6ab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7dfc4-fb7e-493e-b2cf-12be7e91d054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eae4603-1b13-490e-afb0-4b7826380915}" ma:internalName="TaxCatchAll" ma:showField="CatchAllData" ma:web="2957dfc4-fb7e-493e-b2cf-12be7e91d0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4B1BF0-1E44-4D29-9B44-5F3332F440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0FAA55-DB49-4689-8C4D-AD8836FED80A}">
  <ds:schemaRefs>
    <ds:schemaRef ds:uri="http://schemas.microsoft.com/office/2006/documentManagement/types"/>
    <ds:schemaRef ds:uri="http://purl.org/dc/dcmitype/"/>
    <ds:schemaRef ds:uri="e3aa56f5-d5f8-4847-a833-4a759c597d6f"/>
    <ds:schemaRef ds:uri="http://schemas.microsoft.com/office/infopath/2007/PartnerControls"/>
    <ds:schemaRef ds:uri="http://purl.org/dc/elements/1.1/"/>
    <ds:schemaRef ds:uri="2957dfc4-fb7e-493e-b2cf-12be7e91d054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9D4738-3D9B-40E5-A4E1-6EB5730A5663}">
  <ds:schemaRefs>
    <ds:schemaRef ds:uri="2957dfc4-fb7e-493e-b2cf-12be7e91d054"/>
    <ds:schemaRef ds:uri="e3aa56f5-d5f8-4847-a833-4a759c597d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51448</TotalTime>
  <Words>1393</Words>
  <Application>Microsoft Macintosh PowerPoint</Application>
  <PresentationFormat>On-screen Show (16:9)</PresentationFormat>
  <Paragraphs>243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System Font Regular</vt:lpstr>
      <vt:lpstr>Aptos</vt:lpstr>
      <vt:lpstr>Arial</vt:lpstr>
      <vt:lpstr>Fira Code</vt:lpstr>
      <vt:lpstr>Fira Code Medium</vt:lpstr>
      <vt:lpstr>Montserrat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Derick Schaefer</cp:lastModifiedBy>
  <cp:revision>119</cp:revision>
  <cp:lastPrinted>2025-10-24T19:09:25Z</cp:lastPrinted>
  <dcterms:modified xsi:type="dcterms:W3CDTF">2026-08-06T13:23:57Z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0x0101003B8477AC93F3F5439405C28A6AF92E37</vt:lpwstr>
  </property>
  <property fmtid="{D5CDD505-2E9C-101B-9397-08002B2CF9AE}" pid="3" name="MediaServiceImageTags">
    <vt:lpwstr/>
  </property>
</Properties>
</file>