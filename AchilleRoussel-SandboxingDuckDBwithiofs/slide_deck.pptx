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988322d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988322d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Hello everyone, thank you all for being here.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My name is Achille, I'm currently the Co-Founder and CTO of Firetiger, where we develop AI agents that verify your code changes in production.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I've been using Go since 2014 and authored and contributed to a bunch of projects, including the Go runtime and compiler.</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988322df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988322df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I’ll be talking about a project I started about two years ago called go-duckfs.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 Go package that does only one thing: it lets you mount a Go file system on a DuckDB instance.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effectively a sandboxing mechanism, because it allows the Go application to capture all I/O operations that are performed by an embedded DuckDB instance.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code that we have heavily used in production, all data access that our agents do use a query engine based on DuckDB and this package.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I’m going to cover why we chose to develop this package, what challenges we </a:t>
            </a:r>
            <a:r>
              <a:rPr lang="en"/>
              <a:t>encountered</a:t>
            </a:r>
            <a:r>
              <a:rPr lang="en"/>
              <a:t> using CGO for the implementation, how we solved them, and what it enabled for us.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988322df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988322df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few words about what DuckDB 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It’</a:t>
            </a:r>
            <a:r>
              <a:rPr lang="en"/>
              <a:t>s an embedded SQL database optimized for analytics workloads: it's not a database server, it's a library you include in your application. It’s designed to leverage columnar file formats to support really high-performance queries.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But it can query almost anything. Whether it's a CSV, JSON, Parquet, or any of the dozens of formats that it supports, you can use it as your swiss-army knife wherever you need your application to query data.</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988322d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988322d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 showing here a couple of examples of how you’d query various files with DuckDB.</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Under the hood, the engine builds one logical query plan, and then derives a physical plan for each data source, doing predicate pushdown whenever the source allows for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There's also a large number of community extensions, and this is where it gets a little bit crazy.</a:t>
            </a:r>
            <a:endParaRPr>
              <a:solidFill>
                <a:schemeClr val="dk1"/>
              </a:solidFill>
            </a:endParaRPr>
          </a:p>
          <a:p>
            <a:pPr indent="0" lvl="0" marL="0" rtl="0" algn="l">
              <a:spcBef>
                <a:spcPts val="0"/>
              </a:spcBef>
              <a:spcAft>
                <a:spcPts val="0"/>
              </a:spcAft>
              <a:buNone/>
            </a:pPr>
            <a:r>
              <a:rPr lang="en">
                <a:solidFill>
                  <a:schemeClr val="dk1"/>
                </a:solidFill>
              </a:rPr>
              <a:t>There are extensions to query pretty much anything anywhere.</a:t>
            </a:r>
            <a:endParaRPr>
              <a:solidFill>
                <a:schemeClr val="dk1"/>
              </a:solidFill>
            </a:endParaRPr>
          </a:p>
          <a:p>
            <a:pPr indent="0" lvl="0" marL="0" rtl="0" algn="l">
              <a:spcBef>
                <a:spcPts val="0"/>
              </a:spcBef>
              <a:spcAft>
                <a:spcPts val="0"/>
              </a:spcAft>
              <a:buNone/>
            </a:pPr>
            <a:r>
              <a:rPr lang="en">
                <a:solidFill>
                  <a:schemeClr val="dk1"/>
                </a:solidFill>
              </a:rPr>
              <a:t>Because it's all SQL, you can join across all of these data sources in a single query.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It’s really powerful, it’s open-source, but there’s one problem…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988322df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988322df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written in 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Go ecosystem, we have a strong tendency to rewrite everything in Go. And nowadays with coding agents, rewriting has never been cheaper. The bar for deciding whether rewrite or reuse has shifted really far towards rewrite.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Rewrite is very tempting, but in this case it would be the wrong call, there has been so much research and engineering injected into developing DuckDB, it wouldn’t be effective to restart from scratch just to have a Go version, so using CGO here is still the right call.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But obviously, it comes with a set of challenges.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988322df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988322df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Quickly to illustrate before I dive into those challenges, this architecture diagram shows where it sits in our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Agents generate SQL statements and tools calls to execute the queries, which are sent over RPC to a server written in 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server handles functions like authentication and instrumentation, then builds the query context including the DuckDB instance, and runs the query on behalf of the agent against an object store like S3 that contains the customer’s data.</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88322df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988322df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embedded a C++ query engine in a Go service. And I want to ask you all, what could possibly go wrong?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Even if CGO is the right call, we still inherit a bunch of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more difficult to build, even if the </a:t>
            </a:r>
            <a:r>
              <a:rPr lang="en">
                <a:solidFill>
                  <a:srgbClr val="188038"/>
                </a:solidFill>
                <a:latin typeface="Roboto Mono"/>
                <a:ea typeface="Roboto Mono"/>
                <a:cs typeface="Roboto Mono"/>
                <a:sym typeface="Roboto Mono"/>
              </a:rPr>
              <a:t>go build</a:t>
            </a:r>
            <a:r>
              <a:rPr lang="en"/>
              <a:t> command tries to abstract away a lot of that complexity, we still involve a second compiler and linker in the build system, which are more difficult to use and much slower than 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end up with two I/O stacks: one for the Go code which uses the io and net packages, and another for the C code which issues syscalls directly.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Things like credential management becomes even more of a pain: the C code makes its own network requests, it has to be given the authentication tokens somehow.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then things that we  take for granted in Go programs like instrumenting the application with OpenTelemetry or debugging performance problems with pprof… none of this works in the C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intended  to run a SQL query, and we’re several layers down the rabbit hole dealing with problems that have nothing to do with our original goal.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That’s where the fun engineering work starts, let’s see how we solved each of those problems.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988322df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988322df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Starting with the build issues. Go is opinionated, it says programs are statically linked binaries.</a:t>
            </a:r>
            <a:endParaRPr/>
          </a:p>
          <a:p>
            <a:pPr indent="0" lvl="0" marL="0" rtl="0" algn="l">
              <a:spcBef>
                <a:spcPts val="0"/>
              </a:spcBef>
              <a:spcAft>
                <a:spcPts val="0"/>
              </a:spcAft>
              <a:buNone/>
            </a:pPr>
            <a:r>
              <a:rPr lang="en"/>
              <a:t>But when we build with CGO we now have to decide if we’re going to use static or dynamic linking.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Intuitively, I thought i would be better to stick with static linking because that’s how we do things in Go and it would likely remove a bunch of problems.</a:t>
            </a:r>
            <a:endParaRPr/>
          </a:p>
          <a:p>
            <a:pPr indent="0" lvl="0" marL="0" rtl="0" algn="l">
              <a:spcBef>
                <a:spcPts val="0"/>
              </a:spcBef>
              <a:spcAft>
                <a:spcPts val="0"/>
              </a:spcAft>
              <a:buNone/>
            </a:pPr>
            <a:r>
              <a:rPr lang="en"/>
              <a:t>But statically linking C++ code is so slow, it was completely impractical, it literally added minutes to each </a:t>
            </a:r>
            <a:r>
              <a:rPr lang="en">
                <a:solidFill>
                  <a:srgbClr val="188038"/>
                </a:solidFill>
                <a:latin typeface="Roboto Mono"/>
                <a:ea typeface="Roboto Mono"/>
                <a:cs typeface="Roboto Mono"/>
                <a:sym typeface="Roboto Mono"/>
              </a:rPr>
              <a:t>go build</a:t>
            </a:r>
            <a:r>
              <a:rPr lang="en"/>
              <a:t>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Dynamic linking avoid this, but it’s weird.</a:t>
            </a:r>
            <a:endParaRPr/>
          </a:p>
          <a:p>
            <a:pPr indent="0" lvl="0" marL="0" rtl="0" algn="l">
              <a:spcBef>
                <a:spcPts val="0"/>
              </a:spcBef>
              <a:spcAft>
                <a:spcPts val="0"/>
              </a:spcAft>
              <a:buNone/>
            </a:pPr>
            <a:r>
              <a:rPr lang="en"/>
              <a:t>Now our program is in two separate files, and if the version of the dynamic library doesn’t match the one we built against, then we get weird missing symbol errors and we can’t even start.</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chose to use dynamic linking because we needed the build times to be fast, but we had to figure out how to keep the build deterministic to avoid those weird problems.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988322df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988322df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solved this at the docker image layer using the multi-stage build.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layer installs the pixi package manager, copies the pixi files that describe which version of DuckDB we target, and then installs the pre-built binary.</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988322df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988322df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stage copies the DuckDB binary over along with the application sources, and builds the Go program with those flags to enable dynamic linking.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gives us a best-of-both-worlds solution: the docker build caches each layer so we don’t reinstall DuckDB each time, and the package manager ensures that we target a specific version of the library thank to the lock file, to ensure that the builds remain deterministic.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model saved us from a lot of initial headaches when trying to compile programs that embedded DuckDB.</a:t>
            </a:r>
            <a:endParaRPr/>
          </a:p>
          <a:p>
            <a:pPr indent="0" lvl="0" marL="0" rtl="0" algn="l">
              <a:spcBef>
                <a:spcPts val="0"/>
              </a:spcBef>
              <a:spcAft>
                <a:spcPts val="0"/>
              </a:spcAft>
              <a:buNone/>
            </a:pPr>
            <a:r>
              <a:rPr lang="en"/>
              <a:t>If you’re using CGO, I recommend that you consider using a package manager like pixi to manage your C dependencies.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88322df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988322df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on to the run time problems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usability problems: for example, dealing with credentials. When the C code has their own HTTP client, they manage authentication </a:t>
            </a:r>
            <a:r>
              <a:rPr lang="en"/>
              <a:t>independently</a:t>
            </a:r>
            <a:r>
              <a:rPr lang="en"/>
              <a:t> from the rest of the application, we need to figure out how to pass credentials from the main program into the C layer. </a:t>
            </a:r>
            <a:r>
              <a:rPr lang="en"/>
              <a:t>Often</a:t>
            </a:r>
            <a:r>
              <a:rPr lang="en"/>
              <a:t> times the C client behaves slightly differently. Personally, that’s the kind of problems I already don’t like to solve once, so having to do it twice is a no-go.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hit a lot of performance problems that just don’t exist in Go, because the C code manages its own thread and connection pools. When your queries are slow because you exhausted a connection pool within the C layer, good luck debugging this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Because we also lose all observability when going through C: the trace context doesn’t propagate, we can’t even add counters or logs because the C code goes directly to the kernel for I/O.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but not least, it also comes with a bunch of security concerns. Half of the application is using the random TLS library that happened to be installed on the OS instead of the net/tls package already built into the application. This is 2x the threat surface, really not the kind of problems we want to be dealing with.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988322df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988322df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Thankfully, DuckDB is very well designed, and all I/O goes through one virtual file system abstraction.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default, DuckDB ships with an implementation that uses the local file system, but several </a:t>
            </a:r>
            <a:r>
              <a:rPr lang="en"/>
              <a:t>extensions provide their own VFS, to support reading from remote object stores for example.</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988322df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988322df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it seemed </a:t>
            </a:r>
            <a:r>
              <a:rPr lang="en"/>
              <a:t>plausible that we could write an extension letting us mount a Go file system using the io/fs package.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can mount an FS instance as the virtual file system on DuckDB, then we would capture all I/O performed by the query engine, and we’d have a primitive we can use to solve for all the problems that were introduced by embedding this library.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Easier said than done.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Alright, let's get into the juicy stuff: how do you actually build this?</a:t>
            </a:r>
            <a:br>
              <a:rPr lang="en"/>
            </a:br>
            <a:br>
              <a:rPr lang="en"/>
            </a:br>
            <a:r>
              <a:rPr lang="en"/>
              <a:t>Now I’m going to get into the more dense part of the talk: I want to show you the main challenges we faced within the implementation, and how we solved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988322df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988322df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io/fs package is built around two core interfaces.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File interface represents a file handle that you can read from, get metadata, and close when we’re done with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have examples of types implementing this interface in the standard library, like os.File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988322df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988322df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interface represents the file system, and it’s one of those powerful single-method interfaces.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only operation common to all file systems is opening a file based on its name or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that’s it, that’s all we have to work with, it’s a simple API.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goal is to make DuckDB call this Open method on an FS instance, and have it use the returned File handle to read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Unfortunately it’s not that simple, due to the rules of CGO. Let me illustrate.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988322df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988322df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how an application uses the duckfs package, there’s only one function called duckfs.Open, which constructs a DuckDB connector pre-configured with the Go file system passed as argument.</a:t>
            </a:r>
            <a:endParaRPr/>
          </a:p>
          <a:p>
            <a:pPr indent="0" lvl="0" marL="0" rtl="0" algn="l">
              <a:spcBef>
                <a:spcPts val="0"/>
              </a:spcBef>
              <a:spcAft>
                <a:spcPts val="0"/>
              </a:spcAft>
              <a:buNone/>
            </a:pPr>
            <a:r>
              <a:rPr lang="en"/>
              <a:t>Then the returned connector can be used to construct a sql.DB and issue SQL queries, from there, it’s your typical database/sql code.</a:t>
            </a:r>
            <a:endParaRPr/>
          </a:p>
          <a:p>
            <a:pPr indent="0" lvl="0" marL="0" rtl="0" algn="l">
              <a:spcBef>
                <a:spcPts val="0"/>
              </a:spcBef>
              <a:spcAft>
                <a:spcPts val="0"/>
              </a:spcAft>
              <a:buNone/>
            </a:pPr>
            <a:r>
              <a:rPr lang="en"/>
              <a:t>What we don’t see here, si that underneath, the code will have used the FS instance to open a File handle and read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a major constraint we have to deal with is that we’re not allowed to return a Go pointer from a function </a:t>
            </a:r>
            <a:r>
              <a:rPr lang="en"/>
              <a:t>invoked</a:t>
            </a:r>
            <a:r>
              <a:rPr lang="en"/>
              <a:t> by C.</a:t>
            </a:r>
            <a:endParaRPr/>
          </a:p>
          <a:p>
            <a:pPr indent="0" lvl="0" marL="0" rtl="0" algn="l">
              <a:spcBef>
                <a:spcPts val="0"/>
              </a:spcBef>
              <a:spcAft>
                <a:spcPts val="0"/>
              </a:spcAft>
              <a:buNone/>
            </a:pPr>
            <a:r>
              <a:rPr lang="en"/>
              <a:t>This constraint exists because the garbage collector cannot track Go pointers that are copied into C memory.</a:t>
            </a:r>
            <a:endParaRPr/>
          </a:p>
          <a:p>
            <a:pPr indent="0" lvl="0" marL="0" rtl="0" algn="l">
              <a:spcBef>
                <a:spcPts val="0"/>
              </a:spcBef>
              <a:spcAft>
                <a:spcPts val="0"/>
              </a:spcAft>
              <a:buNone/>
            </a:pPr>
            <a:r>
              <a:rPr lang="en"/>
              <a:t>So our job is to </a:t>
            </a:r>
            <a:r>
              <a:rPr lang="en"/>
              <a:t>explicitly</a:t>
            </a:r>
            <a:r>
              <a:rPr lang="en"/>
              <a:t> retain all Go objects that will be accessed from C.</a:t>
            </a:r>
            <a:endParaRPr/>
          </a:p>
          <a:p>
            <a:pPr indent="0" lvl="0" marL="0" rtl="0" algn="l">
              <a:spcBef>
                <a:spcPts val="0"/>
              </a:spcBef>
              <a:spcAft>
                <a:spcPts val="0"/>
              </a:spcAft>
              <a:buNone/>
            </a:pPr>
            <a:r>
              <a:rPr lang="en"/>
              <a:t>Basically, we have to do manual memory management in the duckfs package.</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988322df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988322df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solve it in duckfs with this filemap type, which maps Go objects to numeric identifiers, </a:t>
            </a:r>
            <a:r>
              <a:rPr lang="en"/>
              <a:t>similar</a:t>
            </a:r>
            <a:r>
              <a:rPr lang="en"/>
              <a:t> to a file descriptor.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Go objects that must be accessed from C are tracked in those global maps.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id can be passed to C, there is no problem with this, and we rely entirely on DuckDB for the lifecycle management.</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988322df2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988322df2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When an object is created by a C call, it is registered in one of those global maps.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When DuckDB closes a file, the object is unregistered, and the garbage collector to eventually reclaim them.</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to illustrate the duckfs_file_open function, which is the Go function invoked when DuckDB opens a file.</a:t>
            </a:r>
            <a:endParaRPr/>
          </a:p>
          <a:p>
            <a:pPr indent="0" lvl="0" marL="0" rtl="0" algn="l">
              <a:spcBef>
                <a:spcPts val="0"/>
              </a:spcBef>
              <a:spcAft>
                <a:spcPts val="0"/>
              </a:spcAft>
              <a:buNone/>
            </a:pPr>
            <a:r>
              <a:rPr lang="en"/>
              <a:t>The id it gets as argument is the id of the file system instance, we look it up in the global map of file systems currently registered, then we call its Open method which returns a File object.</a:t>
            </a:r>
            <a:endParaRPr/>
          </a:p>
          <a:p>
            <a:pPr indent="0" lvl="0" marL="0" rtl="0" algn="l">
              <a:spcBef>
                <a:spcPts val="0"/>
              </a:spcBef>
              <a:spcAft>
                <a:spcPts val="0"/>
              </a:spcAft>
              <a:buNone/>
            </a:pPr>
            <a:r>
              <a:rPr lang="en"/>
              <a:t>That File object is then registered in the global map of files, and its corresponding identifier returned to DuckDB.</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988322d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988322d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the other side, what does the implementation look like within the DuckDB extension.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Something that was surprising to me was to realize how similar the abstractions were: DuckDB and the io/fs package use the exact same model.</a:t>
            </a:r>
            <a:endParaRPr/>
          </a:p>
          <a:p>
            <a:pPr indent="0" lvl="0" marL="0" rtl="0" algn="l">
              <a:spcBef>
                <a:spcPts val="0"/>
              </a:spcBef>
              <a:spcAft>
                <a:spcPts val="0"/>
              </a:spcAft>
              <a:buNone/>
            </a:pPr>
            <a:r>
              <a:rPr lang="en"/>
              <a:t>There’s a C++ class representing the file system, and another class for the file handles.</a:t>
            </a:r>
            <a:endParaRPr/>
          </a:p>
          <a:p>
            <a:pPr indent="0" lvl="0" marL="0" rtl="0" algn="l">
              <a:spcBef>
                <a:spcPts val="0"/>
              </a:spcBef>
              <a:spcAft>
                <a:spcPts val="0"/>
              </a:spcAft>
              <a:buNone/>
            </a:pPr>
            <a:r>
              <a:rPr lang="en"/>
              <a:t>That’s nice because it makes our job straightforward.</a:t>
            </a:r>
            <a:endParaRPr/>
          </a:p>
          <a:p>
            <a:pPr indent="0" lvl="0" marL="0" rtl="0" algn="l">
              <a:spcBef>
                <a:spcPts val="0"/>
              </a:spcBef>
              <a:spcAft>
                <a:spcPts val="0"/>
              </a:spcAft>
              <a:buNone/>
            </a:pPr>
            <a:r>
              <a:rPr lang="en"/>
              <a:t>In our DuckDB extension, we extend those C++ classes as types that hold the identifiers representing the </a:t>
            </a:r>
            <a:r>
              <a:rPr lang="en"/>
              <a:t>corresponding</a:t>
            </a:r>
            <a:r>
              <a:rPr lang="en"/>
              <a:t> Go objects.</a:t>
            </a:r>
            <a:endParaRPr/>
          </a:p>
          <a:p>
            <a:pPr indent="0" lvl="0" marL="0" rtl="0" algn="l">
              <a:spcBef>
                <a:spcPts val="0"/>
              </a:spcBef>
              <a:spcAft>
                <a:spcPts val="0"/>
              </a:spcAft>
              <a:buNone/>
            </a:pPr>
            <a:r>
              <a:rPr lang="en"/>
              <a:t>That’s how we </a:t>
            </a:r>
            <a:r>
              <a:rPr lang="en"/>
              <a:t>maintain the mapping between C++ and Go objects.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988322df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988322df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Similarly the FileHandle class embeds the id representing the corresponding fs.File object on the Go side.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I’m showing here is a special method in C++, it’s the destructor. </a:t>
            </a:r>
            <a:endParaRPr/>
          </a:p>
          <a:p>
            <a:pPr indent="0" lvl="0" marL="0" rtl="0" algn="l">
              <a:spcBef>
                <a:spcPts val="0"/>
              </a:spcBef>
              <a:spcAft>
                <a:spcPts val="0"/>
              </a:spcAft>
              <a:buNone/>
            </a:pPr>
            <a:r>
              <a:rPr lang="en"/>
              <a:t>The destructor is called by DuckDB when the object is not needed anymore, and our implementation simply calls the duckfs_file_close function, which is declared in the Go code as a CGO function.</a:t>
            </a:r>
            <a:endParaRPr/>
          </a:p>
          <a:p>
            <a:pPr indent="0" lvl="0" marL="0" rtl="0" algn="l">
              <a:spcBef>
                <a:spcPts val="0"/>
              </a:spcBef>
              <a:spcAft>
                <a:spcPts val="0"/>
              </a:spcAft>
              <a:buNone/>
            </a:pPr>
            <a:r>
              <a:rPr lang="en"/>
              <a:t>When called, it receives the id of the file that’s being destroyed, and we can unregister the corresponding fs.File object and close it.</a:t>
            </a:r>
            <a:endParaRPr/>
          </a:p>
          <a:p>
            <a:pPr indent="0" lvl="0" marL="0" rtl="0" algn="l">
              <a:spcBef>
                <a:spcPts val="0"/>
              </a:spcBef>
              <a:spcAft>
                <a:spcPts val="0"/>
              </a:spcAft>
              <a:buNone/>
            </a:pPr>
            <a:r>
              <a:rPr lang="en"/>
              <a:t>That’s how we synchronize the lifecycle of the Go objects on the lifecycle of the C++ objects managed by DuckDB.</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988322df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988322df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the last challenge we faced that I wanted to talk about is context propagation.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DuckDB driver supports context interrupts, but it has no way of propagating the context through the C call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context is coming from the incoming RPC request, it contains the identity of the caller, the tracing span, all the state that’s supposed to be passed through to all outbound requests.</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988322df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988322df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solve for this, we use ephemeral FS objects.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say we want to support querying remote files via http, we can provide an implementation of the FS interface that captures the context, then it can inject that context in the http requests that it creates.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where this model starts to really shine, you can see how we can inject pretty much anything within DuckDB by owning the file system layer.</a:t>
            </a:r>
            <a:endParaRPr/>
          </a:p>
          <a:p>
            <a:pPr indent="0" lvl="0" marL="0" rtl="0" algn="l">
              <a:spcBef>
                <a:spcPts val="0"/>
              </a:spcBef>
              <a:spcAft>
                <a:spcPts val="0"/>
              </a:spcAft>
              <a:buNone/>
            </a:pPr>
            <a:r>
              <a:rPr lang="en"/>
              <a:t>We use this model extensively for testing as well, because we can inject pretty much anything we want in there.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988322df2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988322df2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calling it ephemeral because the idea is that this object will be created on demand for each incoming request we serve.</a:t>
            </a:r>
            <a:endParaRPr/>
          </a:p>
          <a:p>
            <a:pPr indent="0" lvl="0" marL="0" rtl="0" algn="l">
              <a:spcBef>
                <a:spcPts val="0"/>
              </a:spcBef>
              <a:spcAft>
                <a:spcPts val="0"/>
              </a:spcAft>
              <a:buNone/>
            </a:pPr>
            <a:r>
              <a:rPr lang="en"/>
              <a:t>It captures the context of a single request, then gets throw away after the query returns.</a:t>
            </a:r>
            <a:endParaRPr/>
          </a:p>
          <a:p>
            <a:pPr indent="0" lvl="0" marL="0" rtl="0" algn="l">
              <a:spcBef>
                <a:spcPts val="0"/>
              </a:spcBef>
              <a:spcAft>
                <a:spcPts val="0"/>
              </a:spcAft>
              <a:buNone/>
            </a:pPr>
            <a:r>
              <a:rPr lang="en"/>
              <a:t>Obviously we cannot trace what’s going on within the query engine itself, but we can propagate the context to all outbound I/O operations, and that’s enough for our use case.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988322df2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988322df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CGO came with a bag of problems, but solving for those problems was much more </a:t>
            </a:r>
            <a:r>
              <a:rPr lang="en"/>
              <a:t>effective</a:t>
            </a:r>
            <a:r>
              <a:rPr lang="en"/>
              <a:t> </a:t>
            </a:r>
            <a:r>
              <a:rPr lang="en"/>
              <a:t>than trying to rewrite the code in 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problems we ran into were not unique to us, any application who embeds a significant piece of C code will run into the same 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build problems: in our case we solved it using dynamic linking and the docker build system to keep it but and still deterministic.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we had to deal with the the problem of having two I/O stacks in the application: we implemented a virtual file system for DuckDB using the io/fs package, allowing us to completely sandbox the query engine and capture all I/O operations.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finally, we used this sandboxing layer to restore context propagation throughout the call stack, this allowed us to pass state like the caller identity or tracing context, so we could apply access control and retain deep visibility into our system’s behavior.</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988322d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988322d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hope this was useful, and next time you have to integrate a piece of C code in your Go application, you’ll be a bit more prepared for the challenges to expect, and have a few pointers as to how you can solve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firetiger.com"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github.com/firetiger-oss/go-duckfs"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fs.fs" TargetMode="External"/><Relationship Id="rId4" Type="http://schemas.openxmlformats.org/officeDocument/2006/relationships/hyperlink" Target="http://fs.fs" TargetMode="External"/><Relationship Id="rId5" Type="http://schemas.openxmlformats.org/officeDocument/2006/relationships/hyperlink" Target="http://fs.f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Roboto Mono"/>
                <a:ea typeface="Roboto Mono"/>
                <a:cs typeface="Roboto Mono"/>
                <a:sym typeface="Roboto Mono"/>
              </a:rPr>
              <a:t>Sandboxing DuckDB with io/fs</a:t>
            </a:r>
            <a:endParaRPr b="1">
              <a:latin typeface="Roboto Mono"/>
              <a:ea typeface="Roboto Mono"/>
              <a:cs typeface="Roboto Mono"/>
              <a:sym typeface="Roboto Mono"/>
            </a:endParaRPr>
          </a:p>
        </p:txBody>
      </p:sp>
      <p:sp>
        <p:nvSpPr>
          <p:cNvPr id="55" name="Google Shape;55;p13"/>
          <p:cNvSpPr txBox="1"/>
          <p:nvPr>
            <p:ph idx="1" type="subTitle"/>
          </p:nvPr>
        </p:nvSpPr>
        <p:spPr>
          <a:xfrm>
            <a:off x="311700" y="36092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Roboto Mono"/>
                <a:ea typeface="Roboto Mono"/>
                <a:cs typeface="Roboto Mono"/>
                <a:sym typeface="Roboto Mono"/>
              </a:rPr>
              <a:t>Achille Roussel, GopherCon 2026</a:t>
            </a:r>
            <a:endParaRPr>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Who am I?</a:t>
            </a:r>
            <a:endParaRPr b="1" sz="2620">
              <a:latin typeface="Roboto Mono"/>
              <a:ea typeface="Roboto Mono"/>
              <a:cs typeface="Roboto Mono"/>
              <a:sym typeface="Roboto Mono"/>
            </a:endParaRPr>
          </a:p>
        </p:txBody>
      </p:sp>
      <p:sp>
        <p:nvSpPr>
          <p:cNvPr id="61" name="Google Shape;61;p14"/>
          <p:cNvSpPr txBox="1"/>
          <p:nvPr>
            <p:ph idx="1" type="body"/>
          </p:nvPr>
        </p:nvSpPr>
        <p:spPr>
          <a:xfrm>
            <a:off x="311700" y="1959425"/>
            <a:ext cx="8520600" cy="260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Co-Founder, CTO </a:t>
            </a:r>
            <a:r>
              <a:rPr lang="en" sz="2500" u="sng">
                <a:solidFill>
                  <a:schemeClr val="hlink"/>
                </a:solidFill>
                <a:latin typeface="Roboto Mono"/>
                <a:ea typeface="Roboto Mono"/>
                <a:cs typeface="Roboto Mono"/>
                <a:sym typeface="Roboto Mono"/>
                <a:hlinkClick r:id="rId3"/>
              </a:rPr>
              <a:t>https://firetiger.com</a:t>
            </a:r>
            <a:r>
              <a:rPr lang="en" sz="2500">
                <a:latin typeface="Roboto Mono"/>
                <a:ea typeface="Roboto Mono"/>
                <a:cs typeface="Roboto Mono"/>
                <a:sym typeface="Roboto Mono"/>
              </a:rPr>
              <a:t> </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Gopher since 2014</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Open-source author and contributor</a:t>
            </a:r>
            <a:endParaRPr sz="2500">
              <a:latin typeface="Roboto Mono"/>
              <a:ea typeface="Roboto Mono"/>
              <a:cs typeface="Roboto Mono"/>
              <a:sym typeface="Roboto Mono"/>
            </a:endParaRPr>
          </a:p>
        </p:txBody>
      </p:sp>
      <p:pic>
        <p:nvPicPr>
          <p:cNvPr id="62" name="Google Shape;62;p14"/>
          <p:cNvPicPr preferRelativeResize="0"/>
          <p:nvPr/>
        </p:nvPicPr>
        <p:blipFill>
          <a:blip r:embed="rId4">
            <a:alphaModFix/>
          </a:blip>
          <a:stretch>
            <a:fillRect/>
          </a:stretch>
        </p:blipFill>
        <p:spPr>
          <a:xfrm>
            <a:off x="7441200" y="163900"/>
            <a:ext cx="1391100" cy="13911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What are we talking about today?</a:t>
            </a:r>
            <a:endParaRPr b="1" sz="2620">
              <a:latin typeface="Roboto Mono"/>
              <a:ea typeface="Roboto Mono"/>
              <a:cs typeface="Roboto Mono"/>
              <a:sym typeface="Roboto Mono"/>
            </a:endParaRPr>
          </a:p>
        </p:txBody>
      </p:sp>
      <p:sp>
        <p:nvSpPr>
          <p:cNvPr id="68" name="Google Shape;68;p15"/>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DuckDB</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CGO</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io/fs</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u="sng">
                <a:solidFill>
                  <a:schemeClr val="hlink"/>
                </a:solidFill>
                <a:latin typeface="Roboto Mono"/>
                <a:ea typeface="Roboto Mono"/>
                <a:cs typeface="Roboto Mono"/>
                <a:sym typeface="Roboto Mono"/>
                <a:hlinkClick r:id="rId3"/>
              </a:rPr>
              <a:t>github.com/firetiger-oss/go-duckfs</a:t>
            </a:r>
            <a:endParaRPr sz="2500">
              <a:latin typeface="Roboto Mono"/>
              <a:ea typeface="Roboto Mono"/>
              <a:cs typeface="Roboto Mono"/>
              <a:sym typeface="Roboto Mono"/>
            </a:endParaRPr>
          </a:p>
        </p:txBody>
      </p:sp>
      <p:pic>
        <p:nvPicPr>
          <p:cNvPr id="69" name="Google Shape;69;p15" title="TEACHING_GOPHER.png"/>
          <p:cNvPicPr preferRelativeResize="0"/>
          <p:nvPr/>
        </p:nvPicPr>
        <p:blipFill>
          <a:blip r:embed="rId4">
            <a:alphaModFix/>
          </a:blip>
          <a:stretch>
            <a:fillRect/>
          </a:stretch>
        </p:blipFill>
        <p:spPr>
          <a:xfrm>
            <a:off x="4942228" y="1276101"/>
            <a:ext cx="3556900" cy="23257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What is DuckDB?</a:t>
            </a:r>
            <a:endParaRPr b="1" sz="2620">
              <a:latin typeface="Roboto Mono"/>
              <a:ea typeface="Roboto Mono"/>
              <a:cs typeface="Roboto Mono"/>
              <a:sym typeface="Roboto Mono"/>
            </a:endParaRPr>
          </a:p>
        </p:txBody>
      </p:sp>
      <p:sp>
        <p:nvSpPr>
          <p:cNvPr id="75" name="Google Shape;75;p16"/>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Embedded database for analytics</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Full SQL support</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Query anything! (csv, json, parquet)</a:t>
            </a:r>
            <a:endParaRPr sz="2500">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What is DuckDB?</a:t>
            </a:r>
            <a:endParaRPr b="1" sz="2620">
              <a:latin typeface="Roboto Mono"/>
              <a:ea typeface="Roboto Mono"/>
              <a:cs typeface="Roboto Mono"/>
              <a:sym typeface="Roboto Mono"/>
            </a:endParaRPr>
          </a:p>
        </p:txBody>
      </p:sp>
      <p:sp>
        <p:nvSpPr>
          <p:cNvPr id="81" name="Google Shape;81;p17"/>
          <p:cNvSpPr txBox="1"/>
          <p:nvPr>
            <p:ph idx="1" type="body"/>
          </p:nvPr>
        </p:nvSpPr>
        <p:spPr>
          <a:xfrm>
            <a:off x="311700" y="1419500"/>
            <a:ext cx="8520600" cy="3351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br>
              <a:rPr lang="en" sz="2000">
                <a:solidFill>
                  <a:srgbClr val="00FFFF"/>
                </a:solidFill>
                <a:latin typeface="Roboto Mono"/>
                <a:ea typeface="Roboto Mono"/>
                <a:cs typeface="Roboto Mono"/>
                <a:sym typeface="Roboto Mono"/>
              </a:rPr>
            </a:br>
            <a:r>
              <a:rPr lang="en" sz="2000">
                <a:solidFill>
                  <a:srgbClr val="00FFFF"/>
                </a:solidFill>
                <a:latin typeface="Roboto Mono"/>
                <a:ea typeface="Roboto Mono"/>
                <a:cs typeface="Roboto Mono"/>
                <a:sym typeface="Roboto Mono"/>
              </a:rPr>
              <a:t>  SELECT</a:t>
            </a:r>
            <a:r>
              <a:rPr lang="en" sz="2000">
                <a:solidFill>
                  <a:schemeClr val="lt1"/>
                </a:solidFill>
                <a:latin typeface="Roboto Mono"/>
                <a:ea typeface="Roboto Mono"/>
                <a:cs typeface="Roboto Mono"/>
                <a:sym typeface="Roboto Mono"/>
              </a:rPr>
              <a:t> * </a:t>
            </a:r>
            <a:r>
              <a:rPr lang="en" sz="2000">
                <a:solidFill>
                  <a:srgbClr val="00FFFF"/>
                </a:solidFill>
                <a:latin typeface="Roboto Mono"/>
                <a:ea typeface="Roboto Mono"/>
                <a:cs typeface="Roboto Mono"/>
                <a:sym typeface="Roboto Mono"/>
              </a:rPr>
              <a:t>FROM</a:t>
            </a:r>
            <a:r>
              <a:rPr lang="en" sz="2000">
                <a:solidFill>
                  <a:schemeClr val="lt1"/>
                </a:solidFill>
                <a:latin typeface="Roboto Mono"/>
                <a:ea typeface="Roboto Mono"/>
                <a:cs typeface="Roboto Mono"/>
                <a:sym typeface="Roboto Mono"/>
              </a:rPr>
              <a:t> </a:t>
            </a:r>
            <a:r>
              <a:rPr lang="en" sz="2000">
                <a:solidFill>
                  <a:srgbClr val="00FF00"/>
                </a:solidFill>
                <a:latin typeface="Roboto Mono"/>
                <a:ea typeface="Roboto Mono"/>
                <a:cs typeface="Roboto Mono"/>
                <a:sym typeface="Roboto Mono"/>
              </a:rPr>
              <a:t>'records.csv'</a:t>
            </a:r>
            <a:r>
              <a:rPr lang="en" sz="2000">
                <a:solidFill>
                  <a:schemeClr val="lt1"/>
                </a:solidFill>
                <a:latin typeface="Roboto Mono"/>
                <a:ea typeface="Roboto Mono"/>
                <a:cs typeface="Roboto Mono"/>
                <a:sym typeface="Roboto Mono"/>
              </a:rPr>
              <a:t>;</a:t>
            </a:r>
            <a:endParaRPr sz="20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t/>
            </a:r>
            <a:endParaRPr sz="20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2000">
                <a:solidFill>
                  <a:srgbClr val="00FFFF"/>
                </a:solidFill>
                <a:latin typeface="Roboto Mono"/>
                <a:ea typeface="Roboto Mono"/>
                <a:cs typeface="Roboto Mono"/>
                <a:sym typeface="Roboto Mono"/>
              </a:rPr>
              <a:t>  SELECT</a:t>
            </a:r>
            <a:r>
              <a:rPr lang="en" sz="2000">
                <a:solidFill>
                  <a:schemeClr val="lt1"/>
                </a:solidFill>
                <a:latin typeface="Roboto Mono"/>
                <a:ea typeface="Roboto Mono"/>
                <a:cs typeface="Roboto Mono"/>
                <a:sym typeface="Roboto Mono"/>
              </a:rPr>
              <a:t> * </a:t>
            </a:r>
            <a:r>
              <a:rPr lang="en" sz="2000">
                <a:solidFill>
                  <a:srgbClr val="00FFFF"/>
                </a:solidFill>
                <a:latin typeface="Roboto Mono"/>
                <a:ea typeface="Roboto Mono"/>
                <a:cs typeface="Roboto Mono"/>
                <a:sym typeface="Roboto Mono"/>
              </a:rPr>
              <a:t>FROM</a:t>
            </a:r>
            <a:r>
              <a:rPr lang="en" sz="2000">
                <a:solidFill>
                  <a:schemeClr val="lt1"/>
                </a:solidFill>
                <a:latin typeface="Roboto Mono"/>
                <a:ea typeface="Roboto Mono"/>
                <a:cs typeface="Roboto Mono"/>
                <a:sym typeface="Roboto Mono"/>
              </a:rPr>
              <a:t> </a:t>
            </a:r>
            <a:r>
              <a:rPr lang="en" sz="2000">
                <a:solidFill>
                  <a:srgbClr val="00FF00"/>
                </a:solidFill>
                <a:latin typeface="Roboto Mono"/>
                <a:ea typeface="Roboto Mono"/>
                <a:cs typeface="Roboto Mono"/>
                <a:sym typeface="Roboto Mono"/>
              </a:rPr>
              <a:t>'events.json'</a:t>
            </a:r>
            <a:r>
              <a:rPr lang="en" sz="2000">
                <a:solidFill>
                  <a:schemeClr val="lt1"/>
                </a:solidFill>
                <a:latin typeface="Roboto Mono"/>
                <a:ea typeface="Roboto Mono"/>
                <a:cs typeface="Roboto Mono"/>
                <a:sym typeface="Roboto Mono"/>
              </a:rPr>
              <a:t>;</a:t>
            </a:r>
            <a:endParaRPr sz="20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t/>
            </a:r>
            <a:endParaRPr sz="2000">
              <a:solidFill>
                <a:schemeClr val="lt1"/>
              </a:solidFill>
              <a:latin typeface="Roboto Mono"/>
              <a:ea typeface="Roboto Mono"/>
              <a:cs typeface="Roboto Mono"/>
              <a:sym typeface="Roboto Mono"/>
            </a:endParaRPr>
          </a:p>
          <a:p>
            <a:pPr indent="0" lvl="0" marL="0" rtl="0" algn="l">
              <a:spcBef>
                <a:spcPts val="1200"/>
              </a:spcBef>
              <a:spcAft>
                <a:spcPts val="1200"/>
              </a:spcAft>
              <a:buNone/>
            </a:pPr>
            <a:r>
              <a:rPr lang="en" sz="2000">
                <a:solidFill>
                  <a:srgbClr val="00FFFF"/>
                </a:solidFill>
                <a:latin typeface="Roboto Mono"/>
                <a:ea typeface="Roboto Mono"/>
                <a:cs typeface="Roboto Mono"/>
                <a:sym typeface="Roboto Mono"/>
              </a:rPr>
              <a:t>  SELECT</a:t>
            </a:r>
            <a:r>
              <a:rPr lang="en" sz="2000">
                <a:solidFill>
                  <a:schemeClr val="lt1"/>
                </a:solidFill>
                <a:latin typeface="Roboto Mono"/>
                <a:ea typeface="Roboto Mono"/>
                <a:cs typeface="Roboto Mono"/>
                <a:sym typeface="Roboto Mono"/>
              </a:rPr>
              <a:t> * </a:t>
            </a:r>
            <a:r>
              <a:rPr lang="en" sz="2000">
                <a:solidFill>
                  <a:srgbClr val="00FFFF"/>
                </a:solidFill>
                <a:latin typeface="Roboto Mono"/>
                <a:ea typeface="Roboto Mono"/>
                <a:cs typeface="Roboto Mono"/>
                <a:sym typeface="Roboto Mono"/>
              </a:rPr>
              <a:t>FROM</a:t>
            </a:r>
            <a:r>
              <a:rPr lang="en" sz="2000">
                <a:solidFill>
                  <a:schemeClr val="lt1"/>
                </a:solidFill>
                <a:latin typeface="Roboto Mono"/>
                <a:ea typeface="Roboto Mono"/>
                <a:cs typeface="Roboto Mono"/>
                <a:sym typeface="Roboto Mono"/>
              </a:rPr>
              <a:t> </a:t>
            </a:r>
            <a:r>
              <a:rPr lang="en" sz="2000">
                <a:solidFill>
                  <a:srgbClr val="00FF00"/>
                </a:solidFill>
                <a:latin typeface="Roboto Mono"/>
                <a:ea typeface="Roboto Mono"/>
                <a:cs typeface="Roboto Mono"/>
                <a:sym typeface="Roboto Mono"/>
              </a:rPr>
              <a:t>'s3://bucket/table/*.parquet'</a:t>
            </a:r>
            <a:r>
              <a:rPr lang="en" sz="2000">
                <a:solidFill>
                  <a:schemeClr val="lt1"/>
                </a:solidFill>
                <a:latin typeface="Roboto Mono"/>
                <a:ea typeface="Roboto Mono"/>
                <a:cs typeface="Roboto Mono"/>
                <a:sym typeface="Roboto Mono"/>
              </a:rPr>
              <a:t>;</a:t>
            </a:r>
            <a:br>
              <a:rPr lang="en" sz="2000">
                <a:solidFill>
                  <a:schemeClr val="lt1"/>
                </a:solidFill>
                <a:latin typeface="Roboto Mono"/>
                <a:ea typeface="Roboto Mono"/>
                <a:cs typeface="Roboto Mono"/>
                <a:sym typeface="Roboto Mono"/>
              </a:rPr>
            </a:br>
            <a:endParaRPr sz="2000">
              <a:solidFill>
                <a:schemeClr val="lt1"/>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791750"/>
            <a:ext cx="8520600" cy="31494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3500">
                <a:latin typeface="Roboto Mono"/>
                <a:ea typeface="Roboto Mono"/>
                <a:cs typeface="Roboto Mono"/>
                <a:sym typeface="Roboto Mono"/>
              </a:rPr>
              <a:t>It’s written in C++</a:t>
            </a:r>
            <a:endParaRPr sz="3500">
              <a:latin typeface="Roboto Mono"/>
              <a:ea typeface="Roboto Mono"/>
              <a:cs typeface="Roboto Mono"/>
              <a:sym typeface="Roboto Mono"/>
            </a:endParaRPr>
          </a:p>
        </p:txBody>
      </p:sp>
      <p:pic>
        <p:nvPicPr>
          <p:cNvPr id="87" name="Google Shape;87;p18" title="Facepalm_Gopher.png"/>
          <p:cNvPicPr preferRelativeResize="0"/>
          <p:nvPr/>
        </p:nvPicPr>
        <p:blipFill>
          <a:blip r:embed="rId3">
            <a:alphaModFix/>
          </a:blip>
          <a:stretch>
            <a:fillRect/>
          </a:stretch>
        </p:blipFill>
        <p:spPr>
          <a:xfrm>
            <a:off x="3278047" y="1765101"/>
            <a:ext cx="2587899" cy="2586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How are we using DuckDB?</a:t>
            </a:r>
            <a:endParaRPr b="1" sz="2620">
              <a:latin typeface="Roboto Mono"/>
              <a:ea typeface="Roboto Mono"/>
              <a:cs typeface="Roboto Mono"/>
              <a:sym typeface="Roboto Mono"/>
            </a:endParaRPr>
          </a:p>
        </p:txBody>
      </p:sp>
      <p:sp>
        <p:nvSpPr>
          <p:cNvPr id="93" name="Google Shape;93;p19"/>
          <p:cNvSpPr/>
          <p:nvPr/>
        </p:nvSpPr>
        <p:spPr>
          <a:xfrm>
            <a:off x="7207300" y="1703475"/>
            <a:ext cx="1638000" cy="2850300"/>
          </a:xfrm>
          <a:prstGeom prst="can">
            <a:avLst>
              <a:gd fmla="val 25000" name="adj"/>
            </a:avLst>
          </a:prstGeom>
          <a:solidFill>
            <a:srgbClr val="FFF2CC"/>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chemeClr val="dk1"/>
                </a:solidFill>
              </a:rPr>
              <a:t>S3</a:t>
            </a:r>
            <a:endParaRPr b="1" sz="3200">
              <a:solidFill>
                <a:schemeClr val="dk1"/>
              </a:solidFill>
            </a:endParaRPr>
          </a:p>
        </p:txBody>
      </p:sp>
      <p:sp>
        <p:nvSpPr>
          <p:cNvPr id="94" name="Google Shape;94;p19"/>
          <p:cNvSpPr/>
          <p:nvPr/>
        </p:nvSpPr>
        <p:spPr>
          <a:xfrm>
            <a:off x="2554675" y="1572363"/>
            <a:ext cx="3882300" cy="2981400"/>
          </a:xfrm>
          <a:prstGeom prst="roundRect">
            <a:avLst>
              <a:gd fmla="val 16667" name="adj"/>
            </a:avLst>
          </a:prstGeom>
          <a:no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 name="Google Shape;95;p19" title="GOPHER_LAPTOP.png"/>
          <p:cNvPicPr preferRelativeResize="0"/>
          <p:nvPr/>
        </p:nvPicPr>
        <p:blipFill>
          <a:blip r:embed="rId3">
            <a:alphaModFix/>
          </a:blip>
          <a:stretch>
            <a:fillRect/>
          </a:stretch>
        </p:blipFill>
        <p:spPr>
          <a:xfrm>
            <a:off x="298675" y="2734978"/>
            <a:ext cx="1485650" cy="1211125"/>
          </a:xfrm>
          <a:prstGeom prst="rect">
            <a:avLst/>
          </a:prstGeom>
          <a:noFill/>
          <a:ln>
            <a:noFill/>
          </a:ln>
        </p:spPr>
      </p:pic>
      <p:sp>
        <p:nvSpPr>
          <p:cNvPr id="96" name="Google Shape;96;p19"/>
          <p:cNvSpPr/>
          <p:nvPr/>
        </p:nvSpPr>
        <p:spPr>
          <a:xfrm>
            <a:off x="1888550" y="2776725"/>
            <a:ext cx="561900" cy="572700"/>
          </a:xfrm>
          <a:prstGeom prst="right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9"/>
          <p:cNvSpPr/>
          <p:nvPr/>
        </p:nvSpPr>
        <p:spPr>
          <a:xfrm>
            <a:off x="6541188" y="2776725"/>
            <a:ext cx="561900" cy="572700"/>
          </a:xfrm>
          <a:prstGeom prst="right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 name="Google Shape;98;p19"/>
          <p:cNvPicPr preferRelativeResize="0"/>
          <p:nvPr/>
        </p:nvPicPr>
        <p:blipFill>
          <a:blip r:embed="rId4">
            <a:alphaModFix/>
          </a:blip>
          <a:stretch>
            <a:fillRect/>
          </a:stretch>
        </p:blipFill>
        <p:spPr>
          <a:xfrm>
            <a:off x="2998325" y="3349425"/>
            <a:ext cx="2994975" cy="882875"/>
          </a:xfrm>
          <a:prstGeom prst="rect">
            <a:avLst/>
          </a:prstGeom>
          <a:noFill/>
          <a:ln>
            <a:noFill/>
          </a:ln>
        </p:spPr>
      </p:pic>
      <p:pic>
        <p:nvPicPr>
          <p:cNvPr id="99" name="Google Shape;99;p19"/>
          <p:cNvPicPr preferRelativeResize="0"/>
          <p:nvPr/>
        </p:nvPicPr>
        <p:blipFill>
          <a:blip r:embed="rId5">
            <a:alphaModFix/>
          </a:blip>
          <a:stretch>
            <a:fillRect/>
          </a:stretch>
        </p:blipFill>
        <p:spPr>
          <a:xfrm>
            <a:off x="2829269" y="1230475"/>
            <a:ext cx="2837599" cy="2508651"/>
          </a:xfrm>
          <a:prstGeom prst="rect">
            <a:avLst/>
          </a:prstGeom>
          <a:noFill/>
          <a:ln>
            <a:noFill/>
          </a:ln>
        </p:spPr>
      </p:pic>
      <p:sp>
        <p:nvSpPr>
          <p:cNvPr id="100" name="Google Shape;100;p19"/>
          <p:cNvSpPr txBox="1"/>
          <p:nvPr/>
        </p:nvSpPr>
        <p:spPr>
          <a:xfrm>
            <a:off x="402950" y="3946100"/>
            <a:ext cx="1485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Roboto Mono"/>
                <a:ea typeface="Roboto Mono"/>
                <a:cs typeface="Roboto Mono"/>
                <a:sym typeface="Roboto Mono"/>
              </a:rPr>
              <a:t>Agent</a:t>
            </a:r>
            <a:endParaRPr b="1" sz="2500">
              <a:solidFill>
                <a:schemeClr val="dk1"/>
              </a:solidFill>
              <a:latin typeface="Roboto Mono"/>
              <a:ea typeface="Roboto Mono"/>
              <a:cs typeface="Roboto Mono"/>
              <a:sym typeface="Roboto Mono"/>
            </a:endParaRPr>
          </a:p>
        </p:txBody>
      </p:sp>
      <p:sp>
        <p:nvSpPr>
          <p:cNvPr id="101" name="Google Shape;101;p19"/>
          <p:cNvSpPr txBox="1"/>
          <p:nvPr/>
        </p:nvSpPr>
        <p:spPr>
          <a:xfrm>
            <a:off x="1747975" y="2186726"/>
            <a:ext cx="1089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dk1"/>
                </a:solidFill>
                <a:latin typeface="Roboto Mono"/>
                <a:ea typeface="Roboto Mono"/>
                <a:cs typeface="Roboto Mono"/>
                <a:sym typeface="Roboto Mono"/>
              </a:rPr>
              <a:t>SQL</a:t>
            </a:r>
            <a:endParaRPr b="1" sz="2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What could go wrong?</a:t>
            </a:r>
            <a:endParaRPr b="1" sz="2620">
              <a:latin typeface="Roboto Mono"/>
              <a:ea typeface="Roboto Mono"/>
              <a:cs typeface="Roboto Mono"/>
              <a:sym typeface="Roboto Mono"/>
            </a:endParaRPr>
          </a:p>
        </p:txBody>
      </p:sp>
      <p:sp>
        <p:nvSpPr>
          <p:cNvPr id="107" name="Google Shape;107;p20"/>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Difficult to build</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Competing</a:t>
            </a:r>
            <a:r>
              <a:rPr lang="en" sz="2500">
                <a:latin typeface="Roboto Mono"/>
                <a:ea typeface="Roboto Mono"/>
                <a:cs typeface="Roboto Mono"/>
                <a:sym typeface="Roboto Mono"/>
              </a:rPr>
              <a:t> I/O stacks</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Credential management</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Instrumentation / Debugging / Performance</a:t>
            </a:r>
            <a:endParaRPr sz="2500">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Keeping builds deterministic</a:t>
            </a:r>
            <a:endParaRPr b="1" sz="2620">
              <a:latin typeface="Roboto Mono"/>
              <a:ea typeface="Roboto Mono"/>
              <a:cs typeface="Roboto Mono"/>
              <a:sym typeface="Roboto Mono"/>
            </a:endParaRPr>
          </a:p>
        </p:txBody>
      </p:sp>
      <p:sp>
        <p:nvSpPr>
          <p:cNvPr id="113" name="Google Shape;113;p21"/>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2500">
              <a:latin typeface="Roboto Mono"/>
              <a:ea typeface="Roboto Mono"/>
              <a:cs typeface="Roboto Mono"/>
              <a:sym typeface="Roboto Mono"/>
            </a:endParaRPr>
          </a:p>
          <a:p>
            <a:pPr indent="-387350" lvl="0" marL="457200" rtl="0" algn="l">
              <a:spcBef>
                <a:spcPts val="1200"/>
              </a:spcBef>
              <a:spcAft>
                <a:spcPts val="0"/>
              </a:spcAft>
              <a:buSzPts val="2500"/>
              <a:buFont typeface="Roboto Mono"/>
              <a:buChar char="●"/>
            </a:pPr>
            <a:r>
              <a:rPr lang="en" sz="2500">
                <a:latin typeface="Roboto Mono"/>
                <a:ea typeface="Roboto Mono"/>
                <a:cs typeface="Roboto Mono"/>
                <a:sym typeface="Roboto Mono"/>
              </a:rPr>
              <a:t>Static linking → slow</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Dynamic linking → weird</a:t>
            </a:r>
            <a:endParaRPr sz="2500">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Keeping builds deterministic</a:t>
            </a:r>
            <a:endParaRPr b="1" sz="2620">
              <a:latin typeface="Roboto Mono"/>
              <a:ea typeface="Roboto Mono"/>
              <a:cs typeface="Roboto Mono"/>
              <a:sym typeface="Roboto Mono"/>
            </a:endParaRPr>
          </a:p>
        </p:txBody>
      </p:sp>
      <p:sp>
        <p:nvSpPr>
          <p:cNvPr id="119" name="Google Shape;119;p22"/>
          <p:cNvSpPr txBox="1"/>
          <p:nvPr>
            <p:ph idx="1" type="body"/>
          </p:nvPr>
        </p:nvSpPr>
        <p:spPr>
          <a:xfrm>
            <a:off x="311700" y="1419500"/>
            <a:ext cx="8520600" cy="3351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FROM </a:t>
            </a:r>
            <a:r>
              <a:rPr lang="en">
                <a:solidFill>
                  <a:schemeClr val="lt1"/>
                </a:solidFill>
                <a:latin typeface="Roboto Mono"/>
                <a:ea typeface="Roboto Mono"/>
                <a:cs typeface="Roboto Mono"/>
                <a:sym typeface="Roboto Mono"/>
              </a:rPr>
              <a:t>ghcr.io/prefix-dev/pixi:latest</a:t>
            </a:r>
            <a:r>
              <a:rPr lang="en">
                <a:solidFill>
                  <a:srgbClr val="00FFFF"/>
                </a:solidFill>
                <a:latin typeface="Roboto Mono"/>
                <a:ea typeface="Roboto Mono"/>
                <a:cs typeface="Roboto Mono"/>
                <a:sym typeface="Roboto Mono"/>
              </a:rPr>
              <a:t> AS </a:t>
            </a:r>
            <a:r>
              <a:rPr lang="en">
                <a:solidFill>
                  <a:schemeClr val="lt1"/>
                </a:solidFill>
                <a:latin typeface="Roboto Mono"/>
                <a:ea typeface="Roboto Mono"/>
                <a:cs typeface="Roboto Mono"/>
                <a:sym typeface="Roboto Mono"/>
              </a:rPr>
              <a:t>pixi</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WORKDIR </a:t>
            </a:r>
            <a:r>
              <a:rPr lang="en">
                <a:solidFill>
                  <a:schemeClr val="lt1"/>
                </a:solidFill>
                <a:latin typeface="Roboto Mono"/>
                <a:ea typeface="Roboto Mono"/>
                <a:cs typeface="Roboto Mono"/>
                <a:sym typeface="Roboto Mono"/>
              </a:rPr>
              <a:t>/src</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COPY </a:t>
            </a:r>
            <a:r>
              <a:rPr lang="en">
                <a:solidFill>
                  <a:schemeClr val="lt1"/>
                </a:solidFill>
                <a:latin typeface="Roboto Mono"/>
                <a:ea typeface="Roboto Mono"/>
                <a:cs typeface="Roboto Mono"/>
                <a:sym typeface="Roboto Mono"/>
              </a:rPr>
              <a:t>pixi.toml pixi.lock .</a:t>
            </a:r>
            <a:endParaRPr>
              <a:solidFill>
                <a:schemeClr val="lt1"/>
              </a:solidFill>
              <a:latin typeface="Roboto Mono"/>
              <a:ea typeface="Roboto Mono"/>
              <a:cs typeface="Roboto Mono"/>
              <a:sym typeface="Roboto Mono"/>
            </a:endParaRPr>
          </a:p>
          <a:p>
            <a:pPr indent="0" lvl="0" marL="0" rtl="0" algn="l">
              <a:spcBef>
                <a:spcPts val="1200"/>
              </a:spcBef>
              <a:spcAft>
                <a:spcPts val="1200"/>
              </a:spcAft>
              <a:buNone/>
            </a:pPr>
            <a:r>
              <a:rPr lang="en">
                <a:solidFill>
                  <a:srgbClr val="00FFFF"/>
                </a:solidFill>
                <a:latin typeface="Roboto Mono"/>
                <a:ea typeface="Roboto Mono"/>
                <a:cs typeface="Roboto Mono"/>
                <a:sym typeface="Roboto Mono"/>
              </a:rPr>
              <a:t>RUN </a:t>
            </a:r>
            <a:r>
              <a:rPr lang="en">
                <a:solidFill>
                  <a:schemeClr val="lt1"/>
                </a:solidFill>
                <a:latin typeface="Roboto Mono"/>
                <a:ea typeface="Roboto Mono"/>
                <a:cs typeface="Roboto Mono"/>
                <a:sym typeface="Roboto Mono"/>
              </a:rPr>
              <a:t>pixi install --locked</a:t>
            </a:r>
            <a:endParaRPr>
              <a:solidFill>
                <a:schemeClr val="lt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Keeping builds deterministic</a:t>
            </a:r>
            <a:endParaRPr b="1" sz="2620">
              <a:latin typeface="Roboto Mono"/>
              <a:ea typeface="Roboto Mono"/>
              <a:cs typeface="Roboto Mono"/>
              <a:sym typeface="Roboto Mono"/>
            </a:endParaRPr>
          </a:p>
        </p:txBody>
      </p:sp>
      <p:sp>
        <p:nvSpPr>
          <p:cNvPr id="125" name="Google Shape;125;p23"/>
          <p:cNvSpPr txBox="1"/>
          <p:nvPr>
            <p:ph idx="1" type="body"/>
          </p:nvPr>
        </p:nvSpPr>
        <p:spPr>
          <a:xfrm>
            <a:off x="311700" y="1419500"/>
            <a:ext cx="8520600" cy="3351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FROM </a:t>
            </a:r>
            <a:r>
              <a:rPr lang="en">
                <a:solidFill>
                  <a:schemeClr val="lt1"/>
                </a:solidFill>
                <a:latin typeface="Roboto Mono"/>
                <a:ea typeface="Roboto Mono"/>
                <a:cs typeface="Roboto Mono"/>
                <a:sym typeface="Roboto Mono"/>
              </a:rPr>
              <a:t>golang:1.25</a:t>
            </a:r>
            <a:r>
              <a:rPr lang="en">
                <a:solidFill>
                  <a:srgbClr val="00FFFF"/>
                </a:solidFill>
                <a:latin typeface="Roboto Mono"/>
                <a:ea typeface="Roboto Mono"/>
                <a:cs typeface="Roboto Mono"/>
                <a:sym typeface="Roboto Mono"/>
              </a:rPr>
              <a:t> AS </a:t>
            </a:r>
            <a:r>
              <a:rPr lang="en">
                <a:solidFill>
                  <a:schemeClr val="lt1"/>
                </a:solidFill>
                <a:latin typeface="Roboto Mono"/>
                <a:ea typeface="Roboto Mono"/>
                <a:cs typeface="Roboto Mono"/>
                <a:sym typeface="Roboto Mono"/>
              </a:rPr>
              <a:t>build</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WORKDIR </a:t>
            </a:r>
            <a:r>
              <a:rPr lang="en">
                <a:solidFill>
                  <a:schemeClr val="lt1"/>
                </a:solidFill>
                <a:latin typeface="Roboto Mono"/>
                <a:ea typeface="Roboto Mono"/>
                <a:cs typeface="Roboto Mono"/>
                <a:sym typeface="Roboto Mono"/>
              </a:rPr>
              <a:t>/src</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COPY </a:t>
            </a:r>
            <a:r>
              <a:rPr lang="en">
                <a:solidFill>
                  <a:srgbClr val="FFE599"/>
                </a:solidFill>
                <a:latin typeface="Roboto Mono"/>
                <a:ea typeface="Roboto Mono"/>
                <a:cs typeface="Roboto Mono"/>
                <a:sym typeface="Roboto Mono"/>
              </a:rPr>
              <a:t>--from</a:t>
            </a:r>
            <a:r>
              <a:rPr lang="en">
                <a:solidFill>
                  <a:schemeClr val="lt1"/>
                </a:solidFill>
                <a:latin typeface="Roboto Mono"/>
                <a:ea typeface="Roboto Mono"/>
                <a:cs typeface="Roboto Mono"/>
                <a:sym typeface="Roboto Mono"/>
              </a:rPr>
              <a:t>=pixi /src/.pixi .pixi</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COPY </a:t>
            </a:r>
            <a:r>
              <a:rPr lang="en">
                <a:solidFill>
                  <a:schemeClr val="lt1"/>
                </a:solidFill>
                <a:latin typeface="Roboto Mono"/>
                <a:ea typeface="Roboto Mono"/>
                <a:cs typeface="Roboto Mono"/>
                <a:sym typeface="Roboto Mono"/>
              </a:rPr>
              <a:t>. .</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ENV </a:t>
            </a:r>
            <a:r>
              <a:rPr lang="en">
                <a:solidFill>
                  <a:srgbClr val="FFE599"/>
                </a:solidFill>
                <a:latin typeface="Roboto Mono"/>
                <a:ea typeface="Roboto Mono"/>
                <a:cs typeface="Roboto Mono"/>
                <a:sym typeface="Roboto Mono"/>
              </a:rPr>
              <a:t>CGO_LDFLAGS</a:t>
            </a:r>
            <a:r>
              <a:rPr lang="en">
                <a:solidFill>
                  <a:schemeClr val="lt1"/>
                </a:solidFill>
                <a:latin typeface="Roboto Mono"/>
                <a:ea typeface="Roboto Mono"/>
                <a:cs typeface="Roboto Mono"/>
                <a:sym typeface="Roboto Mono"/>
              </a:rPr>
              <a:t>=</a:t>
            </a:r>
            <a:r>
              <a:rPr lang="en">
                <a:solidFill>
                  <a:srgbClr val="00FF00"/>
                </a:solidFill>
                <a:latin typeface="Roboto Mono"/>
                <a:ea typeface="Roboto Mono"/>
                <a:cs typeface="Roboto Mono"/>
                <a:sym typeface="Roboto Mono"/>
              </a:rPr>
              <a:t>"-L/src/.pixi/envs/default/lib -lduckdb"</a:t>
            </a:r>
            <a:endParaRPr>
              <a:solidFill>
                <a:srgbClr val="00FF00"/>
              </a:solidFill>
              <a:latin typeface="Roboto Mono"/>
              <a:ea typeface="Roboto Mono"/>
              <a:cs typeface="Roboto Mono"/>
              <a:sym typeface="Roboto Mono"/>
            </a:endParaRPr>
          </a:p>
          <a:p>
            <a:pPr indent="0" lvl="0" marL="0" rtl="0" algn="l">
              <a:spcBef>
                <a:spcPts val="1200"/>
              </a:spcBef>
              <a:spcAft>
                <a:spcPts val="1200"/>
              </a:spcAft>
              <a:buNone/>
            </a:pPr>
            <a:r>
              <a:rPr lang="en">
                <a:solidFill>
                  <a:srgbClr val="00FFFF"/>
                </a:solidFill>
                <a:latin typeface="Roboto Mono"/>
                <a:ea typeface="Roboto Mono"/>
                <a:cs typeface="Roboto Mono"/>
                <a:sym typeface="Roboto Mono"/>
              </a:rPr>
              <a:t>RUN </a:t>
            </a:r>
            <a:r>
              <a:rPr lang="en">
                <a:solidFill>
                  <a:schemeClr val="lt1"/>
                </a:solidFill>
                <a:latin typeface="Roboto Mono"/>
                <a:ea typeface="Roboto Mono"/>
                <a:cs typeface="Roboto Mono"/>
                <a:sym typeface="Roboto Mono"/>
              </a:rPr>
              <a:t>go build -tags=duckdb_use_lib</a:t>
            </a:r>
            <a:endParaRPr>
              <a:solidFill>
                <a:schemeClr val="lt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Two I/O stacks = too many problems</a:t>
            </a:r>
            <a:endParaRPr b="1" sz="2620">
              <a:latin typeface="Roboto Mono"/>
              <a:ea typeface="Roboto Mono"/>
              <a:cs typeface="Roboto Mono"/>
              <a:sym typeface="Roboto Mono"/>
            </a:endParaRPr>
          </a:p>
        </p:txBody>
      </p:sp>
      <p:sp>
        <p:nvSpPr>
          <p:cNvPr id="131" name="Google Shape;131;p24"/>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Usability</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Performance</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Observability</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Security</a:t>
            </a:r>
            <a:endParaRPr sz="2500">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3074538" y="1842332"/>
            <a:ext cx="2994975" cy="882875"/>
          </a:xfrm>
          <a:prstGeom prst="rect">
            <a:avLst/>
          </a:prstGeom>
          <a:noFill/>
          <a:ln>
            <a:noFill/>
          </a:ln>
        </p:spPr>
      </p:pic>
      <p:sp>
        <p:nvSpPr>
          <p:cNvPr id="137" name="Google Shape;137;p25"/>
          <p:cNvSpPr txBox="1"/>
          <p:nvPr/>
        </p:nvSpPr>
        <p:spPr>
          <a:xfrm>
            <a:off x="1490263" y="394525"/>
            <a:ext cx="6163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accent1"/>
                </a:solidFill>
                <a:latin typeface="Roboto Mono"/>
                <a:ea typeface="Roboto Mono"/>
                <a:cs typeface="Roboto Mono"/>
                <a:sym typeface="Roboto Mono"/>
              </a:rPr>
              <a:t>SELECT</a:t>
            </a:r>
            <a:r>
              <a:rPr b="1" lang="en" sz="2400">
                <a:solidFill>
                  <a:schemeClr val="dk1"/>
                </a:solidFill>
                <a:latin typeface="Roboto Mono"/>
                <a:ea typeface="Roboto Mono"/>
                <a:cs typeface="Roboto Mono"/>
                <a:sym typeface="Roboto Mono"/>
              </a:rPr>
              <a:t> * </a:t>
            </a:r>
            <a:r>
              <a:rPr b="1" lang="en" sz="2400">
                <a:solidFill>
                  <a:schemeClr val="accent1"/>
                </a:solidFill>
                <a:latin typeface="Roboto Mono"/>
                <a:ea typeface="Roboto Mono"/>
                <a:cs typeface="Roboto Mono"/>
                <a:sym typeface="Roboto Mono"/>
              </a:rPr>
              <a:t>FROM</a:t>
            </a:r>
            <a:r>
              <a:rPr b="1" lang="en" sz="2400">
                <a:solidFill>
                  <a:schemeClr val="dk1"/>
                </a:solidFill>
                <a:latin typeface="Roboto Mono"/>
                <a:ea typeface="Roboto Mono"/>
                <a:cs typeface="Roboto Mono"/>
                <a:sym typeface="Roboto Mono"/>
              </a:rPr>
              <a:t> </a:t>
            </a:r>
            <a:r>
              <a:rPr b="1" lang="en" sz="2400">
                <a:solidFill>
                  <a:srgbClr val="6AA84F"/>
                </a:solidFill>
                <a:latin typeface="Roboto Mono"/>
                <a:ea typeface="Roboto Mono"/>
                <a:cs typeface="Roboto Mono"/>
                <a:sym typeface="Roboto Mono"/>
              </a:rPr>
              <a:t>'</a:t>
            </a:r>
            <a:r>
              <a:rPr b="1" lang="en" sz="2400">
                <a:solidFill>
                  <a:srgbClr val="6AA84F"/>
                </a:solidFill>
                <a:latin typeface="Roboto Mono"/>
                <a:ea typeface="Roboto Mono"/>
                <a:cs typeface="Roboto Mono"/>
                <a:sym typeface="Roboto Mono"/>
              </a:rPr>
              <a:t>gophers.parquet</a:t>
            </a:r>
            <a:r>
              <a:rPr b="1" lang="en" sz="2400">
                <a:solidFill>
                  <a:srgbClr val="6AA84F"/>
                </a:solidFill>
                <a:latin typeface="Roboto Mono"/>
                <a:ea typeface="Roboto Mono"/>
                <a:cs typeface="Roboto Mono"/>
                <a:sym typeface="Roboto Mono"/>
              </a:rPr>
              <a:t>'</a:t>
            </a:r>
            <a:r>
              <a:rPr b="1" lang="en" sz="2400">
                <a:solidFill>
                  <a:schemeClr val="dk1"/>
                </a:solidFill>
                <a:latin typeface="Roboto Mono"/>
                <a:ea typeface="Roboto Mono"/>
                <a:cs typeface="Roboto Mono"/>
                <a:sym typeface="Roboto Mono"/>
              </a:rPr>
              <a:t>;</a:t>
            </a:r>
            <a:endParaRPr b="1" sz="2400">
              <a:solidFill>
                <a:schemeClr val="dk1"/>
              </a:solidFill>
              <a:latin typeface="Roboto Mono"/>
              <a:ea typeface="Roboto Mono"/>
              <a:cs typeface="Roboto Mono"/>
              <a:sym typeface="Roboto Mono"/>
            </a:endParaRPr>
          </a:p>
        </p:txBody>
      </p:sp>
      <p:sp>
        <p:nvSpPr>
          <p:cNvPr id="138" name="Google Shape;138;p25"/>
          <p:cNvSpPr/>
          <p:nvPr/>
        </p:nvSpPr>
        <p:spPr>
          <a:xfrm>
            <a:off x="4327975" y="1269625"/>
            <a:ext cx="488100" cy="572700"/>
          </a:xfrm>
          <a:prstGeom prst="downArrow">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25"/>
          <p:cNvSpPr/>
          <p:nvPr/>
        </p:nvSpPr>
        <p:spPr>
          <a:xfrm>
            <a:off x="2025325" y="3633700"/>
            <a:ext cx="5218500" cy="938700"/>
          </a:xfrm>
          <a:prstGeom prst="roundRect">
            <a:avLst>
              <a:gd fmla="val 16667" name="adj"/>
            </a:avLst>
          </a:prstGeom>
          <a:noFill/>
          <a:ln cap="flat" cmpd="sng" w="3810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latin typeface="Roboto Mono"/>
                <a:ea typeface="Roboto Mono"/>
                <a:cs typeface="Roboto Mono"/>
                <a:sym typeface="Roboto Mono"/>
              </a:rPr>
              <a:t>VFS: </a:t>
            </a:r>
            <a:r>
              <a:rPr b="1" lang="en" sz="2200">
                <a:solidFill>
                  <a:schemeClr val="accent1"/>
                </a:solidFill>
                <a:latin typeface="Roboto Mono"/>
                <a:ea typeface="Roboto Mono"/>
                <a:cs typeface="Roboto Mono"/>
                <a:sym typeface="Roboto Mono"/>
              </a:rPr>
              <a:t>open</a:t>
            </a:r>
            <a:r>
              <a:rPr b="1" lang="en" sz="2200">
                <a:latin typeface="Roboto Mono"/>
                <a:ea typeface="Roboto Mono"/>
                <a:cs typeface="Roboto Mono"/>
                <a:sym typeface="Roboto Mono"/>
              </a:rPr>
              <a:t>(</a:t>
            </a:r>
            <a:r>
              <a:rPr b="1" lang="en" sz="2200">
                <a:solidFill>
                  <a:srgbClr val="6AA84F"/>
                </a:solidFill>
                <a:latin typeface="Roboto Mono"/>
                <a:ea typeface="Roboto Mono"/>
                <a:cs typeface="Roboto Mono"/>
                <a:sym typeface="Roboto Mono"/>
              </a:rPr>
              <a:t>"</a:t>
            </a:r>
            <a:r>
              <a:rPr b="1" lang="en" sz="2200">
                <a:solidFill>
                  <a:srgbClr val="6AA84F"/>
                </a:solidFill>
                <a:latin typeface="Roboto Mono"/>
                <a:ea typeface="Roboto Mono"/>
                <a:cs typeface="Roboto Mono"/>
                <a:sym typeface="Roboto Mono"/>
              </a:rPr>
              <a:t>gophers.parquet</a:t>
            </a:r>
            <a:r>
              <a:rPr b="1" lang="en" sz="2200">
                <a:solidFill>
                  <a:srgbClr val="6AA84F"/>
                </a:solidFill>
                <a:latin typeface="Roboto Mono"/>
                <a:ea typeface="Roboto Mono"/>
                <a:cs typeface="Roboto Mono"/>
                <a:sym typeface="Roboto Mono"/>
              </a:rPr>
              <a:t>"</a:t>
            </a:r>
            <a:r>
              <a:rPr b="1" lang="en" sz="2200">
                <a:latin typeface="Roboto Mono"/>
                <a:ea typeface="Roboto Mono"/>
                <a:cs typeface="Roboto Mono"/>
                <a:sym typeface="Roboto Mono"/>
              </a:rPr>
              <a:t>)</a:t>
            </a:r>
            <a:endParaRPr b="1" sz="2200">
              <a:latin typeface="Roboto Mono"/>
              <a:ea typeface="Roboto Mono"/>
              <a:cs typeface="Roboto Mono"/>
              <a:sym typeface="Roboto Mono"/>
            </a:endParaRPr>
          </a:p>
        </p:txBody>
      </p:sp>
      <p:sp>
        <p:nvSpPr>
          <p:cNvPr id="140" name="Google Shape;140;p25"/>
          <p:cNvSpPr/>
          <p:nvPr/>
        </p:nvSpPr>
        <p:spPr>
          <a:xfrm>
            <a:off x="4327950" y="2725200"/>
            <a:ext cx="488100" cy="572700"/>
          </a:xfrm>
          <a:prstGeom prst="downArrow">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Virtual File Systems in Go: io/fs</a:t>
            </a:r>
            <a:endParaRPr b="1" sz="2620">
              <a:latin typeface="Roboto Mono"/>
              <a:ea typeface="Roboto Mono"/>
              <a:cs typeface="Roboto Mono"/>
              <a:sym typeface="Roboto Mono"/>
            </a:endParaRPr>
          </a:p>
        </p:txBody>
      </p:sp>
      <p:sp>
        <p:nvSpPr>
          <p:cNvPr id="146" name="Google Shape;146;p26"/>
          <p:cNvSpPr txBox="1"/>
          <p:nvPr>
            <p:ph idx="1" type="body"/>
          </p:nvPr>
        </p:nvSpPr>
        <p:spPr>
          <a:xfrm>
            <a:off x="311700" y="1419500"/>
            <a:ext cx="8520600" cy="31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Roboto Mono"/>
              <a:ea typeface="Roboto Mono"/>
              <a:cs typeface="Roboto Mono"/>
              <a:sym typeface="Roboto Mono"/>
            </a:endParaRPr>
          </a:p>
          <a:p>
            <a:pPr indent="0" lvl="0" marL="0" rtl="0" algn="l">
              <a:spcBef>
                <a:spcPts val="1200"/>
              </a:spcBef>
              <a:spcAft>
                <a:spcPts val="1200"/>
              </a:spcAft>
              <a:buNone/>
            </a:pPr>
            <a:r>
              <a:rPr lang="en" sz="2400">
                <a:latin typeface="Roboto Mono"/>
                <a:ea typeface="Roboto Mono"/>
                <a:cs typeface="Roboto Mono"/>
                <a:sym typeface="Roboto Mono"/>
              </a:rPr>
              <a:t>Can we mount a Go fs.FS as virtual file system under DuckDB?</a:t>
            </a:r>
            <a:endParaRPr sz="2400">
              <a:latin typeface="Roboto Mono"/>
              <a:ea typeface="Roboto Mono"/>
              <a:cs typeface="Roboto Mono"/>
              <a:sym typeface="Roboto Mono"/>
            </a:endParaRPr>
          </a:p>
        </p:txBody>
      </p:sp>
      <p:pic>
        <p:nvPicPr>
          <p:cNvPr id="147" name="Google Shape;147;p26" title="NERDY.png"/>
          <p:cNvPicPr preferRelativeResize="0"/>
          <p:nvPr/>
        </p:nvPicPr>
        <p:blipFill>
          <a:blip r:embed="rId3">
            <a:alphaModFix/>
          </a:blip>
          <a:stretch>
            <a:fillRect/>
          </a:stretch>
        </p:blipFill>
        <p:spPr>
          <a:xfrm>
            <a:off x="5028374" y="2892200"/>
            <a:ext cx="1912602" cy="19468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io/fs: abstracting virtual file systems</a:t>
            </a:r>
            <a:endParaRPr b="1" sz="2620">
              <a:latin typeface="Roboto Mono"/>
              <a:ea typeface="Roboto Mono"/>
              <a:cs typeface="Roboto Mono"/>
              <a:sym typeface="Roboto Mono"/>
            </a:endParaRPr>
          </a:p>
        </p:txBody>
      </p:sp>
      <p:sp>
        <p:nvSpPr>
          <p:cNvPr id="153" name="Google Shape;153;p27"/>
          <p:cNvSpPr txBox="1"/>
          <p:nvPr>
            <p:ph idx="1" type="body"/>
          </p:nvPr>
        </p:nvSpPr>
        <p:spPr>
          <a:xfrm>
            <a:off x="311700" y="1419500"/>
            <a:ext cx="8520600" cy="3351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1200"/>
              </a:spcAft>
              <a:buNone/>
            </a:pPr>
            <a:r>
              <a:rPr lang="en" sz="2600">
                <a:solidFill>
                  <a:srgbClr val="00FFFF"/>
                </a:solidFill>
                <a:latin typeface="Roboto Mono"/>
                <a:ea typeface="Roboto Mono"/>
                <a:cs typeface="Roboto Mono"/>
                <a:sym typeface="Roboto Mono"/>
              </a:rPr>
              <a:t>package </a:t>
            </a:r>
            <a:r>
              <a:rPr lang="en" sz="2600">
                <a:solidFill>
                  <a:schemeClr val="lt1"/>
                </a:solidFill>
                <a:latin typeface="Roboto Mono"/>
                <a:ea typeface="Roboto Mono"/>
                <a:cs typeface="Roboto Mono"/>
                <a:sym typeface="Roboto Mono"/>
              </a:rPr>
              <a:t>fs</a:t>
            </a:r>
            <a:br>
              <a:rPr lang="en" sz="2600">
                <a:solidFill>
                  <a:srgbClr val="00FFFF"/>
                </a:solidFill>
                <a:latin typeface="Roboto Mono"/>
                <a:ea typeface="Roboto Mono"/>
                <a:cs typeface="Roboto Mono"/>
                <a:sym typeface="Roboto Mono"/>
              </a:rPr>
            </a:br>
            <a:br>
              <a:rPr lang="en" sz="2600">
                <a:solidFill>
                  <a:srgbClr val="00FFFF"/>
                </a:solidFill>
                <a:latin typeface="Roboto Mono"/>
                <a:ea typeface="Roboto Mono"/>
                <a:cs typeface="Roboto Mono"/>
                <a:sym typeface="Roboto Mono"/>
              </a:rPr>
            </a:br>
            <a:r>
              <a:rPr lang="en" sz="2600">
                <a:solidFill>
                  <a:srgbClr val="00FFFF"/>
                </a:solidFill>
                <a:latin typeface="Roboto Mono"/>
                <a:ea typeface="Roboto Mono"/>
                <a:cs typeface="Roboto Mono"/>
                <a:sym typeface="Roboto Mono"/>
              </a:rPr>
              <a:t>type </a:t>
            </a:r>
            <a:r>
              <a:rPr lang="en" sz="2600">
                <a:solidFill>
                  <a:srgbClr val="00FF00"/>
                </a:solidFill>
                <a:latin typeface="Roboto Mono"/>
                <a:ea typeface="Roboto Mono"/>
                <a:cs typeface="Roboto Mono"/>
                <a:sym typeface="Roboto Mono"/>
              </a:rPr>
              <a:t>File</a:t>
            </a:r>
            <a:r>
              <a:rPr lang="en" sz="2600">
                <a:solidFill>
                  <a:srgbClr val="00FFFF"/>
                </a:solidFill>
                <a:latin typeface="Roboto Mono"/>
                <a:ea typeface="Roboto Mono"/>
                <a:cs typeface="Roboto Mono"/>
                <a:sym typeface="Roboto Mono"/>
              </a:rPr>
              <a:t> interface </a:t>
            </a:r>
            <a:r>
              <a:rPr lang="en" sz="2600">
                <a:solidFill>
                  <a:schemeClr val="lt1"/>
                </a:solidFill>
                <a:latin typeface="Roboto Mono"/>
                <a:ea typeface="Roboto Mono"/>
                <a:cs typeface="Roboto Mono"/>
                <a:sym typeface="Roboto Mono"/>
              </a:rPr>
              <a:t>{</a:t>
            </a:r>
            <a:br>
              <a:rPr lang="en" sz="2600">
                <a:solidFill>
                  <a:schemeClr val="lt1"/>
                </a:solidFill>
                <a:latin typeface="Roboto Mono"/>
                <a:ea typeface="Roboto Mono"/>
                <a:cs typeface="Roboto Mono"/>
                <a:sym typeface="Roboto Mono"/>
              </a:rPr>
            </a:br>
            <a:r>
              <a:rPr lang="en" sz="2600">
                <a:solidFill>
                  <a:schemeClr val="lt1"/>
                </a:solidFill>
                <a:latin typeface="Roboto Mono"/>
                <a:ea typeface="Roboto Mono"/>
                <a:cs typeface="Roboto Mono"/>
                <a:sym typeface="Roboto Mono"/>
              </a:rPr>
              <a:t>    </a:t>
            </a:r>
            <a:r>
              <a:rPr lang="en" sz="2600">
                <a:solidFill>
                  <a:srgbClr val="6D9EEB"/>
                </a:solidFill>
                <a:latin typeface="Roboto Mono"/>
                <a:ea typeface="Roboto Mono"/>
                <a:cs typeface="Roboto Mono"/>
                <a:sym typeface="Roboto Mono"/>
              </a:rPr>
              <a:t>Read</a:t>
            </a:r>
            <a:r>
              <a:rPr lang="en" sz="2600">
                <a:solidFill>
                  <a:schemeClr val="lt1"/>
                </a:solidFill>
                <a:latin typeface="Roboto Mono"/>
                <a:ea typeface="Roboto Mono"/>
                <a:cs typeface="Roboto Mono"/>
                <a:sym typeface="Roboto Mono"/>
              </a:rPr>
              <a:t>(</a:t>
            </a:r>
            <a:r>
              <a:rPr lang="en" sz="2600">
                <a:solidFill>
                  <a:srgbClr val="FFD966"/>
                </a:solidFill>
                <a:latin typeface="Roboto Mono"/>
                <a:ea typeface="Roboto Mono"/>
                <a:cs typeface="Roboto Mono"/>
                <a:sym typeface="Roboto Mono"/>
              </a:rPr>
              <a:t>b</a:t>
            </a:r>
            <a:r>
              <a:rPr lang="en" sz="2600">
                <a:solidFill>
                  <a:schemeClr val="lt1"/>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byte</a:t>
            </a:r>
            <a:r>
              <a:rPr lang="en" sz="2600">
                <a:solidFill>
                  <a:schemeClr val="lt1"/>
                </a:solidFill>
                <a:latin typeface="Roboto Mono"/>
                <a:ea typeface="Roboto Mono"/>
                <a:cs typeface="Roboto Mono"/>
                <a:sym typeface="Roboto Mono"/>
              </a:rPr>
              <a:t>)</a:t>
            </a:r>
            <a:r>
              <a:rPr lang="en" sz="2600">
                <a:solidFill>
                  <a:srgbClr val="00FFFF"/>
                </a:solidFill>
                <a:latin typeface="Roboto Mono"/>
                <a:ea typeface="Roboto Mono"/>
                <a:cs typeface="Roboto Mono"/>
                <a:sym typeface="Roboto Mono"/>
              </a:rPr>
              <a:t> </a:t>
            </a:r>
            <a:r>
              <a:rPr lang="en" sz="2600">
                <a:solidFill>
                  <a:schemeClr val="lt1"/>
                </a:solidFill>
                <a:latin typeface="Roboto Mono"/>
                <a:ea typeface="Roboto Mono"/>
                <a:cs typeface="Roboto Mono"/>
                <a:sym typeface="Roboto Mono"/>
              </a:rPr>
              <a:t>(</a:t>
            </a:r>
            <a:r>
              <a:rPr lang="en" sz="2600">
                <a:solidFill>
                  <a:srgbClr val="00FF00"/>
                </a:solidFill>
                <a:latin typeface="Roboto Mono"/>
                <a:ea typeface="Roboto Mono"/>
                <a:cs typeface="Roboto Mono"/>
                <a:sym typeface="Roboto Mono"/>
              </a:rPr>
              <a:t>int</a:t>
            </a:r>
            <a:r>
              <a:rPr lang="en" sz="2600">
                <a:solidFill>
                  <a:srgbClr val="00FFFF"/>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error</a:t>
            </a:r>
            <a:r>
              <a:rPr lang="en" sz="2600">
                <a:solidFill>
                  <a:schemeClr val="lt1"/>
                </a:solidFill>
                <a:latin typeface="Roboto Mono"/>
                <a:ea typeface="Roboto Mono"/>
                <a:cs typeface="Roboto Mono"/>
                <a:sym typeface="Roboto Mono"/>
              </a:rPr>
              <a:t>)</a:t>
            </a:r>
            <a:br>
              <a:rPr lang="en" sz="2600">
                <a:solidFill>
                  <a:srgbClr val="00FFFF"/>
                </a:solidFill>
                <a:latin typeface="Roboto Mono"/>
                <a:ea typeface="Roboto Mono"/>
                <a:cs typeface="Roboto Mono"/>
                <a:sym typeface="Roboto Mono"/>
              </a:rPr>
            </a:br>
            <a:r>
              <a:rPr lang="en" sz="2600">
                <a:solidFill>
                  <a:srgbClr val="00FFFF"/>
                </a:solidFill>
                <a:latin typeface="Roboto Mono"/>
                <a:ea typeface="Roboto Mono"/>
                <a:cs typeface="Roboto Mono"/>
                <a:sym typeface="Roboto Mono"/>
              </a:rPr>
              <a:t>    </a:t>
            </a:r>
            <a:r>
              <a:rPr lang="en" sz="2600">
                <a:solidFill>
                  <a:srgbClr val="6D9EEB"/>
                </a:solidFill>
                <a:latin typeface="Roboto Mono"/>
                <a:ea typeface="Roboto Mono"/>
                <a:cs typeface="Roboto Mono"/>
                <a:sym typeface="Roboto Mono"/>
              </a:rPr>
              <a:t>Stat</a:t>
            </a:r>
            <a:r>
              <a:rPr lang="en" sz="2600">
                <a:solidFill>
                  <a:schemeClr val="lt1"/>
                </a:solidFill>
                <a:latin typeface="Roboto Mono"/>
                <a:ea typeface="Roboto Mono"/>
                <a:cs typeface="Roboto Mono"/>
                <a:sym typeface="Roboto Mono"/>
              </a:rPr>
              <a:t>()</a:t>
            </a:r>
            <a:r>
              <a:rPr lang="en" sz="2600">
                <a:solidFill>
                  <a:srgbClr val="00FFFF"/>
                </a:solidFill>
                <a:latin typeface="Roboto Mono"/>
                <a:ea typeface="Roboto Mono"/>
                <a:cs typeface="Roboto Mono"/>
                <a:sym typeface="Roboto Mono"/>
              </a:rPr>
              <a:t> </a:t>
            </a:r>
            <a:r>
              <a:rPr lang="en" sz="2600">
                <a:solidFill>
                  <a:schemeClr val="lt1"/>
                </a:solidFill>
                <a:latin typeface="Roboto Mono"/>
                <a:ea typeface="Roboto Mono"/>
                <a:cs typeface="Roboto Mono"/>
                <a:sym typeface="Roboto Mono"/>
              </a:rPr>
              <a:t>(</a:t>
            </a:r>
            <a:r>
              <a:rPr lang="en" sz="2600">
                <a:solidFill>
                  <a:srgbClr val="00FF00"/>
                </a:solidFill>
                <a:latin typeface="Roboto Mono"/>
                <a:ea typeface="Roboto Mono"/>
                <a:cs typeface="Roboto Mono"/>
                <a:sym typeface="Roboto Mono"/>
              </a:rPr>
              <a:t>FileInfo</a:t>
            </a:r>
            <a:r>
              <a:rPr lang="en" sz="2600">
                <a:solidFill>
                  <a:srgbClr val="00FFFF"/>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error</a:t>
            </a:r>
            <a:r>
              <a:rPr lang="en" sz="2600">
                <a:solidFill>
                  <a:schemeClr val="lt1"/>
                </a:solidFill>
                <a:latin typeface="Roboto Mono"/>
                <a:ea typeface="Roboto Mono"/>
                <a:cs typeface="Roboto Mono"/>
                <a:sym typeface="Roboto Mono"/>
              </a:rPr>
              <a:t>)</a:t>
            </a:r>
            <a:br>
              <a:rPr lang="en" sz="2600">
                <a:solidFill>
                  <a:schemeClr val="lt1"/>
                </a:solidFill>
                <a:latin typeface="Roboto Mono"/>
                <a:ea typeface="Roboto Mono"/>
                <a:cs typeface="Roboto Mono"/>
                <a:sym typeface="Roboto Mono"/>
              </a:rPr>
            </a:br>
            <a:r>
              <a:rPr lang="en" sz="2600">
                <a:solidFill>
                  <a:schemeClr val="lt1"/>
                </a:solidFill>
                <a:latin typeface="Roboto Mono"/>
                <a:ea typeface="Roboto Mono"/>
                <a:cs typeface="Roboto Mono"/>
                <a:sym typeface="Roboto Mono"/>
              </a:rPr>
              <a:t>    </a:t>
            </a:r>
            <a:r>
              <a:rPr lang="en" sz="2600">
                <a:solidFill>
                  <a:srgbClr val="6D9EEB"/>
                </a:solidFill>
                <a:latin typeface="Roboto Mono"/>
                <a:ea typeface="Roboto Mono"/>
                <a:cs typeface="Roboto Mono"/>
                <a:sym typeface="Roboto Mono"/>
              </a:rPr>
              <a:t>Close</a:t>
            </a:r>
            <a:r>
              <a:rPr lang="en" sz="2600">
                <a:solidFill>
                  <a:schemeClr val="lt1"/>
                </a:solidFill>
                <a:latin typeface="Roboto Mono"/>
                <a:ea typeface="Roboto Mono"/>
                <a:cs typeface="Roboto Mono"/>
                <a:sym typeface="Roboto Mono"/>
              </a:rPr>
              <a:t>()</a:t>
            </a:r>
            <a:r>
              <a:rPr lang="en" sz="2600">
                <a:solidFill>
                  <a:srgbClr val="00FFFF"/>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error</a:t>
            </a:r>
            <a:br>
              <a:rPr lang="en" sz="2600">
                <a:solidFill>
                  <a:srgbClr val="00FFFF"/>
                </a:solidFill>
                <a:latin typeface="Roboto Mono"/>
                <a:ea typeface="Roboto Mono"/>
                <a:cs typeface="Roboto Mono"/>
                <a:sym typeface="Roboto Mono"/>
              </a:rPr>
            </a:br>
            <a:r>
              <a:rPr lang="en" sz="2600">
                <a:solidFill>
                  <a:schemeClr val="lt1"/>
                </a:solidFill>
                <a:latin typeface="Roboto Mono"/>
                <a:ea typeface="Roboto Mono"/>
                <a:cs typeface="Roboto Mono"/>
                <a:sym typeface="Roboto Mono"/>
              </a:rPr>
              <a:t>}</a:t>
            </a:r>
            <a:endParaRPr sz="2600">
              <a:solidFill>
                <a:schemeClr val="lt1"/>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io/fs: abstracting virtual file systems</a:t>
            </a:r>
            <a:endParaRPr b="1" sz="2620">
              <a:latin typeface="Roboto Mono"/>
              <a:ea typeface="Roboto Mono"/>
              <a:cs typeface="Roboto Mono"/>
              <a:sym typeface="Roboto Mono"/>
            </a:endParaRPr>
          </a:p>
        </p:txBody>
      </p:sp>
      <p:sp>
        <p:nvSpPr>
          <p:cNvPr id="159" name="Google Shape;159;p28"/>
          <p:cNvSpPr txBox="1"/>
          <p:nvPr>
            <p:ph idx="1" type="body"/>
          </p:nvPr>
        </p:nvSpPr>
        <p:spPr>
          <a:xfrm>
            <a:off x="311700" y="1419500"/>
            <a:ext cx="8520600" cy="3351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1200"/>
              </a:spcAft>
              <a:buNone/>
            </a:pPr>
            <a:r>
              <a:rPr lang="en" sz="2600">
                <a:solidFill>
                  <a:srgbClr val="00FFFF"/>
                </a:solidFill>
                <a:latin typeface="Roboto Mono"/>
                <a:ea typeface="Roboto Mono"/>
                <a:cs typeface="Roboto Mono"/>
                <a:sym typeface="Roboto Mono"/>
              </a:rPr>
              <a:t>p</a:t>
            </a:r>
            <a:r>
              <a:rPr lang="en" sz="2600">
                <a:solidFill>
                  <a:srgbClr val="00FFFF"/>
                </a:solidFill>
                <a:latin typeface="Roboto Mono"/>
                <a:ea typeface="Roboto Mono"/>
                <a:cs typeface="Roboto Mono"/>
                <a:sym typeface="Roboto Mono"/>
              </a:rPr>
              <a:t>ackage </a:t>
            </a:r>
            <a:r>
              <a:rPr lang="en" sz="2600">
                <a:solidFill>
                  <a:schemeClr val="lt1"/>
                </a:solidFill>
                <a:latin typeface="Roboto Mono"/>
                <a:ea typeface="Roboto Mono"/>
                <a:cs typeface="Roboto Mono"/>
                <a:sym typeface="Roboto Mono"/>
              </a:rPr>
              <a:t>fs</a:t>
            </a:r>
            <a:br>
              <a:rPr lang="en" sz="2600">
                <a:solidFill>
                  <a:srgbClr val="00FFFF"/>
                </a:solidFill>
                <a:latin typeface="Roboto Mono"/>
                <a:ea typeface="Roboto Mono"/>
                <a:cs typeface="Roboto Mono"/>
                <a:sym typeface="Roboto Mono"/>
              </a:rPr>
            </a:br>
            <a:br>
              <a:rPr lang="en" sz="2600">
                <a:solidFill>
                  <a:srgbClr val="00FFFF"/>
                </a:solidFill>
                <a:latin typeface="Roboto Mono"/>
                <a:ea typeface="Roboto Mono"/>
                <a:cs typeface="Roboto Mono"/>
                <a:sym typeface="Roboto Mono"/>
              </a:rPr>
            </a:br>
            <a:r>
              <a:rPr lang="en" sz="2600">
                <a:solidFill>
                  <a:srgbClr val="00FFFF"/>
                </a:solidFill>
                <a:latin typeface="Roboto Mono"/>
                <a:ea typeface="Roboto Mono"/>
                <a:cs typeface="Roboto Mono"/>
                <a:sym typeface="Roboto Mono"/>
              </a:rPr>
              <a:t>type </a:t>
            </a:r>
            <a:r>
              <a:rPr lang="en" sz="2600">
                <a:solidFill>
                  <a:srgbClr val="00FF00"/>
                </a:solidFill>
                <a:latin typeface="Roboto Mono"/>
                <a:ea typeface="Roboto Mono"/>
                <a:cs typeface="Roboto Mono"/>
                <a:sym typeface="Roboto Mono"/>
              </a:rPr>
              <a:t>FS</a:t>
            </a:r>
            <a:r>
              <a:rPr lang="en" sz="2600">
                <a:solidFill>
                  <a:srgbClr val="00FFFF"/>
                </a:solidFill>
                <a:latin typeface="Roboto Mono"/>
                <a:ea typeface="Roboto Mono"/>
                <a:cs typeface="Roboto Mono"/>
                <a:sym typeface="Roboto Mono"/>
              </a:rPr>
              <a:t> interface </a:t>
            </a:r>
            <a:r>
              <a:rPr lang="en" sz="2600">
                <a:solidFill>
                  <a:schemeClr val="lt1"/>
                </a:solidFill>
                <a:latin typeface="Roboto Mono"/>
                <a:ea typeface="Roboto Mono"/>
                <a:cs typeface="Roboto Mono"/>
                <a:sym typeface="Roboto Mono"/>
              </a:rPr>
              <a:t>{</a:t>
            </a:r>
            <a:br>
              <a:rPr lang="en" sz="2600">
                <a:solidFill>
                  <a:srgbClr val="00FFFF"/>
                </a:solidFill>
                <a:latin typeface="Roboto Mono"/>
                <a:ea typeface="Roboto Mono"/>
                <a:cs typeface="Roboto Mono"/>
                <a:sym typeface="Roboto Mono"/>
              </a:rPr>
            </a:br>
            <a:r>
              <a:rPr lang="en" sz="2600">
                <a:solidFill>
                  <a:srgbClr val="00FFFF"/>
                </a:solidFill>
                <a:latin typeface="Roboto Mono"/>
                <a:ea typeface="Roboto Mono"/>
                <a:cs typeface="Roboto Mono"/>
                <a:sym typeface="Roboto Mono"/>
              </a:rPr>
              <a:t>    </a:t>
            </a:r>
            <a:r>
              <a:rPr lang="en" sz="2600">
                <a:solidFill>
                  <a:srgbClr val="6D9EEB"/>
                </a:solidFill>
                <a:latin typeface="Roboto Mono"/>
                <a:ea typeface="Roboto Mono"/>
                <a:cs typeface="Roboto Mono"/>
                <a:sym typeface="Roboto Mono"/>
              </a:rPr>
              <a:t>Open</a:t>
            </a:r>
            <a:r>
              <a:rPr lang="en" sz="2600">
                <a:solidFill>
                  <a:schemeClr val="lt1"/>
                </a:solidFill>
                <a:latin typeface="Roboto Mono"/>
                <a:ea typeface="Roboto Mono"/>
                <a:cs typeface="Roboto Mono"/>
                <a:sym typeface="Roboto Mono"/>
              </a:rPr>
              <a:t>(</a:t>
            </a:r>
            <a:r>
              <a:rPr lang="en" sz="2600">
                <a:solidFill>
                  <a:srgbClr val="FFD966"/>
                </a:solidFill>
                <a:latin typeface="Roboto Mono"/>
                <a:ea typeface="Roboto Mono"/>
                <a:cs typeface="Roboto Mono"/>
                <a:sym typeface="Roboto Mono"/>
              </a:rPr>
              <a:t>name</a:t>
            </a:r>
            <a:r>
              <a:rPr lang="en" sz="2600">
                <a:solidFill>
                  <a:srgbClr val="00FFFF"/>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string</a:t>
            </a:r>
            <a:r>
              <a:rPr lang="en" sz="2600">
                <a:solidFill>
                  <a:schemeClr val="lt1"/>
                </a:solidFill>
                <a:latin typeface="Roboto Mono"/>
                <a:ea typeface="Roboto Mono"/>
                <a:cs typeface="Roboto Mono"/>
                <a:sym typeface="Roboto Mono"/>
              </a:rPr>
              <a:t>)</a:t>
            </a:r>
            <a:r>
              <a:rPr lang="en" sz="2600">
                <a:solidFill>
                  <a:srgbClr val="00FFFF"/>
                </a:solidFill>
                <a:latin typeface="Roboto Mono"/>
                <a:ea typeface="Roboto Mono"/>
                <a:cs typeface="Roboto Mono"/>
                <a:sym typeface="Roboto Mono"/>
              </a:rPr>
              <a:t> </a:t>
            </a:r>
            <a:r>
              <a:rPr lang="en" sz="2600">
                <a:solidFill>
                  <a:schemeClr val="lt1"/>
                </a:solidFill>
                <a:latin typeface="Roboto Mono"/>
                <a:ea typeface="Roboto Mono"/>
                <a:cs typeface="Roboto Mono"/>
                <a:sym typeface="Roboto Mono"/>
              </a:rPr>
              <a:t>(</a:t>
            </a:r>
            <a:r>
              <a:rPr lang="en" sz="2600">
                <a:solidFill>
                  <a:srgbClr val="00FF00"/>
                </a:solidFill>
                <a:latin typeface="Roboto Mono"/>
                <a:ea typeface="Roboto Mono"/>
                <a:cs typeface="Roboto Mono"/>
                <a:sym typeface="Roboto Mono"/>
              </a:rPr>
              <a:t>File</a:t>
            </a:r>
            <a:r>
              <a:rPr lang="en" sz="2600">
                <a:solidFill>
                  <a:srgbClr val="00FFFF"/>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error</a:t>
            </a:r>
            <a:r>
              <a:rPr lang="en" sz="2600">
                <a:solidFill>
                  <a:schemeClr val="lt1"/>
                </a:solidFill>
                <a:latin typeface="Roboto Mono"/>
                <a:ea typeface="Roboto Mono"/>
                <a:cs typeface="Roboto Mono"/>
                <a:sym typeface="Roboto Mono"/>
              </a:rPr>
              <a:t>)</a:t>
            </a:r>
            <a:br>
              <a:rPr lang="en" sz="2600">
                <a:solidFill>
                  <a:srgbClr val="00FFFF"/>
                </a:solidFill>
                <a:latin typeface="Roboto Mono"/>
                <a:ea typeface="Roboto Mono"/>
                <a:cs typeface="Roboto Mono"/>
                <a:sym typeface="Roboto Mono"/>
              </a:rPr>
            </a:br>
            <a:r>
              <a:rPr lang="en" sz="2600">
                <a:solidFill>
                  <a:schemeClr val="lt1"/>
                </a:solidFill>
                <a:latin typeface="Roboto Mono"/>
                <a:ea typeface="Roboto Mono"/>
                <a:cs typeface="Roboto Mono"/>
                <a:sym typeface="Roboto Mono"/>
              </a:rPr>
              <a:t>}</a:t>
            </a:r>
            <a:endParaRPr sz="2600">
              <a:solidFill>
                <a:schemeClr val="lt1"/>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Mounting fs.FS as Virtual File System</a:t>
            </a:r>
            <a:endParaRPr b="1" sz="2620">
              <a:latin typeface="Roboto Mono"/>
              <a:ea typeface="Roboto Mono"/>
              <a:cs typeface="Roboto Mono"/>
              <a:sym typeface="Roboto Mono"/>
            </a:endParaRPr>
          </a:p>
        </p:txBody>
      </p:sp>
      <p:sp>
        <p:nvSpPr>
          <p:cNvPr id="165" name="Google Shape;165;p29"/>
          <p:cNvSpPr txBox="1"/>
          <p:nvPr>
            <p:ph idx="1" type="body"/>
          </p:nvPr>
        </p:nvSpPr>
        <p:spPr>
          <a:xfrm>
            <a:off x="311700" y="1073575"/>
            <a:ext cx="8520600" cy="3495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br>
              <a:rPr lang="en">
                <a:solidFill>
                  <a:srgbClr val="FFE599"/>
                </a:solidFill>
                <a:latin typeface="Roboto Mono"/>
                <a:ea typeface="Roboto Mono"/>
                <a:cs typeface="Roboto Mono"/>
                <a:sym typeface="Roboto Mono"/>
              </a:rPr>
            </a:br>
            <a:r>
              <a:rPr lang="en">
                <a:solidFill>
                  <a:schemeClr val="lt1"/>
                </a:solidFill>
                <a:latin typeface="Roboto Mono"/>
                <a:ea typeface="Roboto Mono"/>
                <a:cs typeface="Roboto Mono"/>
                <a:sym typeface="Roboto Mono"/>
              </a:rPr>
              <a:t>conn, err := duckfs.</a:t>
            </a:r>
            <a:r>
              <a:rPr lang="en">
                <a:solidFill>
                  <a:srgbClr val="6D9EEB"/>
                </a:solidFill>
                <a:latin typeface="Roboto Mono"/>
                <a:ea typeface="Roboto Mono"/>
                <a:cs typeface="Roboto Mono"/>
                <a:sym typeface="Roboto Mono"/>
              </a:rPr>
              <a:t>Open</a:t>
            </a:r>
            <a:r>
              <a:rPr lang="en">
                <a:solidFill>
                  <a:schemeClr val="lt1"/>
                </a:solidFill>
                <a:latin typeface="Roboto Mono"/>
                <a:ea typeface="Roboto Mono"/>
                <a:cs typeface="Roboto Mono"/>
                <a:sym typeface="Roboto Mono"/>
              </a:rPr>
              <a:t>(</a:t>
            </a:r>
            <a:r>
              <a:rPr lang="en">
                <a:solidFill>
                  <a:srgbClr val="00FF00"/>
                </a:solidFill>
                <a:latin typeface="Roboto Mono"/>
                <a:ea typeface="Roboto Mono"/>
                <a:cs typeface="Roboto Mono"/>
                <a:sym typeface="Roboto Mono"/>
              </a:rPr>
              <a:t>""</a:t>
            </a:r>
            <a:r>
              <a:rPr lang="en">
                <a:solidFill>
                  <a:schemeClr val="lt1"/>
                </a:solidFill>
                <a:latin typeface="Roboto Mono"/>
                <a:ea typeface="Roboto Mono"/>
                <a:cs typeface="Roboto Mono"/>
                <a:sym typeface="Roboto Mono"/>
              </a:rPr>
              <a:t>, </a:t>
            </a:r>
            <a:r>
              <a:rPr lang="en">
                <a:solidFill>
                  <a:srgbClr val="FF00FF"/>
                </a:solidFill>
                <a:latin typeface="Roboto Mono"/>
                <a:ea typeface="Roboto Mono"/>
                <a:cs typeface="Roboto Mono"/>
                <a:sym typeface="Roboto Mono"/>
              </a:rPr>
              <a:t>nil</a:t>
            </a:r>
            <a:r>
              <a:rPr lang="en">
                <a:solidFill>
                  <a:schemeClr val="lt1"/>
                </a:solidFill>
                <a:latin typeface="Roboto Mono"/>
                <a:ea typeface="Roboto Mono"/>
                <a:cs typeface="Roboto Mono"/>
                <a:sym typeface="Roboto Mono"/>
              </a:rPr>
              <a:t>, </a:t>
            </a:r>
            <a:r>
              <a:rPr b="1" lang="en">
                <a:solidFill>
                  <a:schemeClr val="lt1"/>
                </a:solidFill>
                <a:latin typeface="Roboto Mono"/>
                <a:ea typeface="Roboto Mono"/>
                <a:cs typeface="Roboto Mono"/>
                <a:sym typeface="Roboto Mono"/>
              </a:rPr>
              <a:t>os.</a:t>
            </a:r>
            <a:r>
              <a:rPr b="1" lang="en">
                <a:solidFill>
                  <a:srgbClr val="6D9EEB"/>
                </a:solidFill>
                <a:latin typeface="Roboto Mono"/>
                <a:ea typeface="Roboto Mono"/>
                <a:cs typeface="Roboto Mono"/>
                <a:sym typeface="Roboto Mono"/>
              </a:rPr>
              <a:t>DirFS</a:t>
            </a:r>
            <a:r>
              <a:rPr b="1" lang="en">
                <a:solidFill>
                  <a:schemeClr val="lt1"/>
                </a:solidFill>
                <a:latin typeface="Roboto Mono"/>
                <a:ea typeface="Roboto Mono"/>
                <a:cs typeface="Roboto Mono"/>
                <a:sym typeface="Roboto Mono"/>
              </a:rPr>
              <a:t>(</a:t>
            </a:r>
            <a:r>
              <a:rPr b="1" lang="en">
                <a:solidFill>
                  <a:srgbClr val="00FF00"/>
                </a:solidFill>
                <a:latin typeface="Roboto Mono"/>
                <a:ea typeface="Roboto Mono"/>
                <a:cs typeface="Roboto Mono"/>
                <a:sym typeface="Roboto Mono"/>
              </a:rPr>
              <a:t>"./gophercon"</a:t>
            </a:r>
            <a:r>
              <a:rPr b="1" lang="en">
                <a:solidFill>
                  <a:schemeClr val="lt1"/>
                </a:solidFill>
                <a:latin typeface="Roboto Mono"/>
                <a:ea typeface="Roboto Mono"/>
                <a:cs typeface="Roboto Mono"/>
                <a:sym typeface="Roboto Mono"/>
              </a:rPr>
              <a:t>)</a:t>
            </a:r>
            <a:r>
              <a:rPr lang="en">
                <a:solidFill>
                  <a:schemeClr val="lt1"/>
                </a:solidFill>
                <a:latin typeface="Roboto Mono"/>
                <a:ea typeface="Roboto Mono"/>
                <a:cs typeface="Roboto Mono"/>
                <a:sym typeface="Roboto Mono"/>
              </a:rPr>
              <a:t>)</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chemeClr val="lt1"/>
                </a:solidFill>
                <a:latin typeface="Roboto Mono"/>
                <a:ea typeface="Roboto Mono"/>
                <a:cs typeface="Roboto Mono"/>
                <a:sym typeface="Roboto Mono"/>
              </a:rPr>
              <a:t>...</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chemeClr val="lt1"/>
                </a:solidFill>
                <a:latin typeface="Roboto Mono"/>
                <a:ea typeface="Roboto Mono"/>
                <a:cs typeface="Roboto Mono"/>
                <a:sym typeface="Roboto Mono"/>
              </a:rPr>
              <a:t>db := sql.</a:t>
            </a:r>
            <a:r>
              <a:rPr lang="en">
                <a:solidFill>
                  <a:srgbClr val="6D9EEB"/>
                </a:solidFill>
                <a:latin typeface="Roboto Mono"/>
                <a:ea typeface="Roboto Mono"/>
                <a:cs typeface="Roboto Mono"/>
                <a:sym typeface="Roboto Mono"/>
              </a:rPr>
              <a:t>OpenDB</a:t>
            </a:r>
            <a:r>
              <a:rPr lang="en">
                <a:solidFill>
                  <a:schemeClr val="lt1"/>
                </a:solidFill>
                <a:latin typeface="Roboto Mono"/>
                <a:ea typeface="Roboto Mono"/>
                <a:cs typeface="Roboto Mono"/>
                <a:sym typeface="Roboto Mono"/>
              </a:rPr>
              <a:t>(conn)</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00FFFF"/>
                </a:solidFill>
                <a:latin typeface="Roboto Mono"/>
                <a:ea typeface="Roboto Mono"/>
                <a:cs typeface="Roboto Mono"/>
                <a:sym typeface="Roboto Mono"/>
              </a:rPr>
              <a:t>defer</a:t>
            </a:r>
            <a:r>
              <a:rPr lang="en">
                <a:solidFill>
                  <a:schemeClr val="lt1"/>
                </a:solidFill>
                <a:latin typeface="Roboto Mono"/>
                <a:ea typeface="Roboto Mono"/>
                <a:cs typeface="Roboto Mono"/>
                <a:sym typeface="Roboto Mono"/>
              </a:rPr>
              <a:t> db.</a:t>
            </a:r>
            <a:r>
              <a:rPr lang="en">
                <a:solidFill>
                  <a:srgbClr val="6D9EEB"/>
                </a:solidFill>
                <a:latin typeface="Roboto Mono"/>
                <a:ea typeface="Roboto Mono"/>
                <a:cs typeface="Roboto Mono"/>
                <a:sym typeface="Roboto Mono"/>
              </a:rPr>
              <a:t>Close</a:t>
            </a:r>
            <a:r>
              <a:rPr lang="en">
                <a:solidFill>
                  <a:schemeClr val="lt1"/>
                </a:solidFill>
                <a:latin typeface="Roboto Mono"/>
                <a:ea typeface="Roboto Mono"/>
                <a:cs typeface="Roboto Mono"/>
                <a:sym typeface="Roboto Mono"/>
              </a:rPr>
              <a:t>()</a:t>
            </a:r>
            <a:endParaRPr>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t/>
            </a:r>
            <a:endParaRPr>
              <a:solidFill>
                <a:schemeClr val="lt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lt1"/>
                </a:solidFill>
                <a:latin typeface="Roboto Mono"/>
                <a:ea typeface="Roboto Mono"/>
                <a:cs typeface="Roboto Mono"/>
                <a:sym typeface="Roboto Mono"/>
              </a:rPr>
              <a:t>rows, err := db.</a:t>
            </a:r>
            <a:r>
              <a:rPr lang="en">
                <a:solidFill>
                  <a:srgbClr val="6D9EEB"/>
                </a:solidFill>
                <a:latin typeface="Roboto Mono"/>
                <a:ea typeface="Roboto Mono"/>
                <a:cs typeface="Roboto Mono"/>
                <a:sym typeface="Roboto Mono"/>
              </a:rPr>
              <a:t>Query</a:t>
            </a:r>
            <a:r>
              <a:rPr lang="en">
                <a:solidFill>
                  <a:schemeClr val="lt1"/>
                </a:solidFill>
                <a:latin typeface="Roboto Mono"/>
                <a:ea typeface="Roboto Mono"/>
                <a:cs typeface="Roboto Mono"/>
                <a:sym typeface="Roboto Mono"/>
              </a:rPr>
              <a:t>(</a:t>
            </a:r>
            <a:r>
              <a:rPr lang="en">
                <a:solidFill>
                  <a:srgbClr val="00FF00"/>
                </a:solidFill>
                <a:latin typeface="Roboto Mono"/>
                <a:ea typeface="Roboto Mono"/>
                <a:cs typeface="Roboto Mono"/>
                <a:sym typeface="Roboto Mono"/>
              </a:rPr>
              <a:t>`</a:t>
            </a:r>
            <a:r>
              <a:rPr lang="en">
                <a:solidFill>
                  <a:srgbClr val="00FF00"/>
                </a:solidFill>
                <a:latin typeface="Roboto Mono"/>
                <a:ea typeface="Roboto Mono"/>
                <a:cs typeface="Roboto Mono"/>
                <a:sym typeface="Roboto Mono"/>
              </a:rPr>
              <a:t>SELECT name FROM 'gophers.parquet'`</a:t>
            </a:r>
            <a:r>
              <a:rPr lang="en">
                <a:solidFill>
                  <a:schemeClr val="lt1"/>
                </a:solidFill>
                <a:latin typeface="Roboto Mono"/>
                <a:ea typeface="Roboto Mono"/>
                <a:cs typeface="Roboto Mono"/>
                <a:sym typeface="Roboto Mono"/>
              </a:rPr>
              <a:t>)</a:t>
            </a:r>
            <a:br>
              <a:rPr lang="en">
                <a:solidFill>
                  <a:schemeClr val="lt1"/>
                </a:solidFill>
                <a:latin typeface="Roboto Mono"/>
                <a:ea typeface="Roboto Mono"/>
                <a:cs typeface="Roboto Mono"/>
                <a:sym typeface="Roboto Mono"/>
              </a:rPr>
            </a:br>
            <a:r>
              <a:rPr lang="en">
                <a:solidFill>
                  <a:schemeClr val="lt1"/>
                </a:solidFill>
                <a:latin typeface="Roboto Mono"/>
                <a:ea typeface="Roboto Mono"/>
                <a:cs typeface="Roboto Mono"/>
                <a:sym typeface="Roboto Mono"/>
              </a:rPr>
              <a:t>...</a:t>
            </a:r>
            <a:endParaRPr>
              <a:solidFill>
                <a:schemeClr val="lt1"/>
              </a:solidFill>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mapping handles to Go objects</a:t>
            </a:r>
            <a:endParaRPr b="1" sz="2620">
              <a:latin typeface="Roboto Mono"/>
              <a:ea typeface="Roboto Mono"/>
              <a:cs typeface="Roboto Mono"/>
              <a:sym typeface="Roboto Mono"/>
            </a:endParaRPr>
          </a:p>
        </p:txBody>
      </p:sp>
      <p:sp>
        <p:nvSpPr>
          <p:cNvPr id="171" name="Google Shape;171;p30"/>
          <p:cNvSpPr txBox="1"/>
          <p:nvPr>
            <p:ph idx="1" type="body"/>
          </p:nvPr>
        </p:nvSpPr>
        <p:spPr>
          <a:xfrm>
            <a:off x="311700" y="1201750"/>
            <a:ext cx="8520600" cy="33672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var</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globalFsys</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[fs.FS]</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globalFiles</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[fs.File]</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None/>
            </a:pPr>
            <a:r>
              <a:rPr lang="en" sz="1600">
                <a:solidFill>
                  <a:schemeClr val="lt1"/>
                </a:solidFill>
                <a:latin typeface="Roboto Mono"/>
                <a:ea typeface="Roboto Mono"/>
                <a:cs typeface="Roboto Mono"/>
                <a:sym typeface="Roboto Mono"/>
              </a:rPr>
              <a:t>)</a:t>
            </a:r>
            <a:br>
              <a:rPr lang="en" sz="1600">
                <a:solidFill>
                  <a:schemeClr val="lt1"/>
                </a:solidFill>
                <a:latin typeface="Roboto Mono"/>
                <a:ea typeface="Roboto Mono"/>
                <a:cs typeface="Roboto Mono"/>
                <a:sym typeface="Roboto Mono"/>
              </a:rPr>
            </a:br>
            <a:endParaRPr sz="1600">
              <a:solidFill>
                <a:schemeClr val="lt1"/>
              </a:solidFill>
              <a:latin typeface="Roboto Mono"/>
              <a:ea typeface="Roboto Mono"/>
              <a:cs typeface="Roboto Mono"/>
              <a:sym typeface="Roboto Mono"/>
            </a:endParaRPr>
          </a:p>
          <a:p>
            <a:pPr indent="0" lvl="0" marL="0" rtl="0" algn="l">
              <a:spcBef>
                <a:spcPts val="1200"/>
              </a:spcBef>
              <a:spcAft>
                <a:spcPts val="0"/>
              </a:spcAft>
              <a:buNone/>
            </a:pPr>
            <a:r>
              <a:rPr lang="en" sz="1600">
                <a:solidFill>
                  <a:srgbClr val="00FFFF"/>
                </a:solidFill>
                <a:latin typeface="Roboto Mono"/>
                <a:ea typeface="Roboto Mono"/>
                <a:cs typeface="Roboto Mono"/>
                <a:sym typeface="Roboto Mono"/>
              </a:rPr>
              <a:t>type</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T</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comparable</a:t>
            </a: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struct</a:t>
            </a:r>
            <a:r>
              <a:rPr lang="en" sz="1600">
                <a:solidFill>
                  <a:schemeClr val="lt1"/>
                </a:solidFill>
                <a:latin typeface="Roboto Mono"/>
                <a:ea typeface="Roboto Mono"/>
                <a:cs typeface="Roboto Mono"/>
                <a:sym typeface="Roboto Mono"/>
              </a:rPr>
              <a:t> { ... }</a:t>
            </a:r>
            <a:br>
              <a:rPr lang="en" sz="1600">
                <a:solidFill>
                  <a:schemeClr val="lt1"/>
                </a:solidFill>
                <a:latin typeface="Roboto Mono"/>
                <a:ea typeface="Roboto Mono"/>
                <a:cs typeface="Roboto Mono"/>
                <a:sym typeface="Roboto Mono"/>
              </a:rPr>
            </a:br>
            <a:r>
              <a:rPr lang="en" sz="1600">
                <a:solidFill>
                  <a:srgbClr val="00FFFF"/>
                </a:solidFill>
                <a:latin typeface="Roboto Mono"/>
                <a:ea typeface="Roboto Mono"/>
                <a:cs typeface="Roboto Mono"/>
                <a:sym typeface="Roboto Mono"/>
              </a:rPr>
              <a:t>func</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m</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[T]) </a:t>
            </a:r>
            <a:r>
              <a:rPr lang="en" sz="1600">
                <a:solidFill>
                  <a:srgbClr val="6D9EEB"/>
                </a:solidFill>
                <a:latin typeface="Roboto Mono"/>
                <a:ea typeface="Roboto Mono"/>
                <a:cs typeface="Roboto Mono"/>
                <a:sym typeface="Roboto Mono"/>
              </a:rPr>
              <a:t>lookup</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id</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int32</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T</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bool</a:t>
            </a:r>
            <a:r>
              <a:rPr lang="en" sz="1600">
                <a:solidFill>
                  <a:schemeClr val="lt1"/>
                </a:solidFill>
                <a:latin typeface="Roboto Mono"/>
                <a:ea typeface="Roboto Mono"/>
                <a:cs typeface="Roboto Mono"/>
                <a:sym typeface="Roboto Mono"/>
              </a:rPr>
              <a:t>)</a:t>
            </a:r>
            <a:br>
              <a:rPr lang="en" sz="1600">
                <a:solidFill>
                  <a:schemeClr val="lt1"/>
                </a:solidFill>
                <a:latin typeface="Roboto Mono"/>
                <a:ea typeface="Roboto Mono"/>
                <a:cs typeface="Roboto Mono"/>
                <a:sym typeface="Roboto Mono"/>
              </a:rPr>
            </a:br>
            <a:r>
              <a:rPr lang="en" sz="1600">
                <a:solidFill>
                  <a:srgbClr val="00FFFF"/>
                </a:solidFill>
                <a:latin typeface="Roboto Mono"/>
                <a:ea typeface="Roboto Mono"/>
                <a:cs typeface="Roboto Mono"/>
                <a:sym typeface="Roboto Mono"/>
              </a:rPr>
              <a:t>func</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m</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[T]) </a:t>
            </a:r>
            <a:r>
              <a:rPr lang="en" sz="1600">
                <a:solidFill>
                  <a:srgbClr val="6D9EEB"/>
                </a:solidFill>
                <a:latin typeface="Roboto Mono"/>
                <a:ea typeface="Roboto Mono"/>
                <a:cs typeface="Roboto Mono"/>
                <a:sym typeface="Roboto Mono"/>
              </a:rPr>
              <a:t>register</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value</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T</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int32</a:t>
            </a:r>
            <a:br>
              <a:rPr lang="en" sz="1600">
                <a:solidFill>
                  <a:schemeClr val="lt1"/>
                </a:solidFill>
                <a:latin typeface="Roboto Mono"/>
                <a:ea typeface="Roboto Mono"/>
                <a:cs typeface="Roboto Mono"/>
                <a:sym typeface="Roboto Mono"/>
              </a:rPr>
            </a:br>
            <a:r>
              <a:rPr lang="en" sz="1600">
                <a:solidFill>
                  <a:srgbClr val="00FFFF"/>
                </a:solidFill>
                <a:latin typeface="Roboto Mono"/>
                <a:ea typeface="Roboto Mono"/>
                <a:cs typeface="Roboto Mono"/>
                <a:sym typeface="Roboto Mono"/>
              </a:rPr>
              <a:t>func</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m</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filemap</a:t>
            </a:r>
            <a:r>
              <a:rPr lang="en" sz="1600">
                <a:solidFill>
                  <a:schemeClr val="lt1"/>
                </a:solidFill>
                <a:latin typeface="Roboto Mono"/>
                <a:ea typeface="Roboto Mono"/>
                <a:cs typeface="Roboto Mono"/>
                <a:sym typeface="Roboto Mono"/>
              </a:rPr>
              <a:t>[T]) </a:t>
            </a:r>
            <a:r>
              <a:rPr lang="en" sz="1600">
                <a:solidFill>
                  <a:srgbClr val="6D9EEB"/>
                </a:solidFill>
                <a:latin typeface="Roboto Mono"/>
                <a:ea typeface="Roboto Mono"/>
                <a:cs typeface="Roboto Mono"/>
                <a:sym typeface="Roboto Mono"/>
              </a:rPr>
              <a:t>unregister</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id</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int32</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T</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bool</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1200"/>
              </a:spcAft>
              <a:buNone/>
            </a:pPr>
            <a:r>
              <a:t/>
            </a:r>
            <a:endParaRPr sz="1600">
              <a:solidFill>
                <a:schemeClr val="lt1"/>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5" name="Shape 175"/>
        <p:cNvGrpSpPr/>
        <p:nvPr/>
      </p:nvGrpSpPr>
      <p:grpSpPr>
        <a:xfrm>
          <a:off x="0" y="0"/>
          <a:ext cx="0" cy="0"/>
          <a:chOff x="0" y="0"/>
          <a:chExt cx="0" cy="0"/>
        </a:xfrm>
      </p:grpSpPr>
      <p:sp>
        <p:nvSpPr>
          <p:cNvPr id="176" name="Google Shape;17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mapping handles to Go objects</a:t>
            </a:r>
            <a:endParaRPr b="1" sz="2620">
              <a:latin typeface="Roboto Mono"/>
              <a:ea typeface="Roboto Mono"/>
              <a:cs typeface="Roboto Mono"/>
              <a:sym typeface="Roboto Mono"/>
            </a:endParaRPr>
          </a:p>
        </p:txBody>
      </p:sp>
      <p:sp>
        <p:nvSpPr>
          <p:cNvPr id="177" name="Google Shape;177;p31"/>
          <p:cNvSpPr txBox="1"/>
          <p:nvPr>
            <p:ph idx="1" type="body"/>
          </p:nvPr>
        </p:nvSpPr>
        <p:spPr>
          <a:xfrm>
            <a:off x="311700" y="1201750"/>
            <a:ext cx="8520600" cy="38616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B7B7B7"/>
                </a:solidFill>
                <a:latin typeface="Roboto Mono"/>
                <a:ea typeface="Roboto Mono"/>
                <a:cs typeface="Roboto Mono"/>
                <a:sym typeface="Roboto Mono"/>
              </a:rPr>
              <a:t>//export duckfs_file_open</a:t>
            </a:r>
            <a:endParaRPr sz="1600">
              <a:solidFill>
                <a:srgbClr val="B7B7B7"/>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func</a:t>
            </a: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duckfs_file_open</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id</a:t>
            </a:r>
            <a:r>
              <a:rPr lang="en" sz="1600">
                <a:solidFill>
                  <a:schemeClr val="lt1"/>
                </a:solidFill>
                <a:latin typeface="Roboto Mono"/>
                <a:ea typeface="Roboto Mono"/>
                <a:cs typeface="Roboto Mono"/>
                <a:sym typeface="Roboto Mono"/>
              </a:rPr>
              <a:t> C.</a:t>
            </a:r>
            <a:r>
              <a:rPr lang="en" sz="1600">
                <a:solidFill>
                  <a:srgbClr val="00FF00"/>
                </a:solidFill>
                <a:latin typeface="Roboto Mono"/>
                <a:ea typeface="Roboto Mono"/>
                <a:cs typeface="Roboto Mono"/>
                <a:sym typeface="Roboto Mono"/>
              </a:rPr>
              <a:t>int</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path</a:t>
            </a:r>
            <a:r>
              <a:rPr lang="en" sz="1600">
                <a:solidFill>
                  <a:schemeClr val="lt1"/>
                </a:solidFill>
                <a:latin typeface="Roboto Mono"/>
                <a:ea typeface="Roboto Mono"/>
                <a:cs typeface="Roboto Mono"/>
                <a:sym typeface="Roboto Mono"/>
              </a:rPr>
              <a:t> *C.</a:t>
            </a:r>
            <a:r>
              <a:rPr lang="en" sz="1600">
                <a:solidFill>
                  <a:srgbClr val="00FF00"/>
                </a:solidFill>
                <a:latin typeface="Roboto Mono"/>
                <a:ea typeface="Roboto Mono"/>
                <a:cs typeface="Roboto Mono"/>
                <a:sym typeface="Roboto Mono"/>
              </a:rPr>
              <a:t>char</a:t>
            </a:r>
            <a:r>
              <a:rPr lang="en" sz="1600">
                <a:solidFill>
                  <a:schemeClr val="lt1"/>
                </a:solidFill>
                <a:latin typeface="Roboto Mono"/>
                <a:ea typeface="Roboto Mono"/>
                <a:cs typeface="Roboto Mono"/>
                <a:sym typeface="Roboto Mono"/>
              </a:rPr>
              <a:t>) C.</a:t>
            </a:r>
            <a:r>
              <a:rPr lang="en" sz="1600">
                <a:solidFill>
                  <a:srgbClr val="00FF00"/>
                </a:solidFill>
                <a:latin typeface="Roboto Mono"/>
                <a:ea typeface="Roboto Mono"/>
                <a:cs typeface="Roboto Mono"/>
                <a:sym typeface="Roboto Mono"/>
              </a:rPr>
              <a:t>int</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p := C.</a:t>
            </a:r>
            <a:r>
              <a:rPr lang="en" sz="1600">
                <a:solidFill>
                  <a:srgbClr val="6D9EEB"/>
                </a:solidFill>
                <a:latin typeface="Roboto Mono"/>
                <a:ea typeface="Roboto Mono"/>
                <a:cs typeface="Roboto Mono"/>
                <a:sym typeface="Roboto Mono"/>
              </a:rPr>
              <a:t>GoString</a:t>
            </a:r>
            <a:r>
              <a:rPr lang="en" sz="1600">
                <a:solidFill>
                  <a:schemeClr val="lt1"/>
                </a:solidFill>
                <a:latin typeface="Roboto Mono"/>
                <a:ea typeface="Roboto Mono"/>
                <a:cs typeface="Roboto Mono"/>
                <a:sym typeface="Roboto Mono"/>
              </a:rPr>
              <a:t>(path)</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fsys, ok := globalFsys.</a:t>
            </a:r>
            <a:r>
              <a:rPr lang="en" sz="1600">
                <a:solidFill>
                  <a:srgbClr val="6D9EEB"/>
                </a:solidFill>
                <a:latin typeface="Roboto Mono"/>
                <a:ea typeface="Roboto Mono"/>
                <a:cs typeface="Roboto Mono"/>
                <a:sym typeface="Roboto Mono"/>
              </a:rPr>
              <a:t>lookup</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int32</a:t>
            </a:r>
            <a:r>
              <a:rPr lang="en" sz="1600">
                <a:solidFill>
                  <a:schemeClr val="lt1"/>
                </a:solidFill>
                <a:latin typeface="Roboto Mono"/>
                <a:ea typeface="Roboto Mono"/>
                <a:cs typeface="Roboto Mono"/>
                <a:sym typeface="Roboto Mono"/>
              </a:rPr>
              <a:t>(id))</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f, err := fsys.</a:t>
            </a:r>
            <a:r>
              <a:rPr lang="en" sz="1600">
                <a:solidFill>
                  <a:srgbClr val="6D9EEB"/>
                </a:solidFill>
                <a:latin typeface="Roboto Mono"/>
                <a:ea typeface="Roboto Mono"/>
                <a:cs typeface="Roboto Mono"/>
                <a:sym typeface="Roboto Mono"/>
              </a:rPr>
              <a:t>Open</a:t>
            </a:r>
            <a:r>
              <a:rPr lang="en" sz="1600">
                <a:solidFill>
                  <a:schemeClr val="lt1"/>
                </a:solidFill>
                <a:latin typeface="Roboto Mono"/>
                <a:ea typeface="Roboto Mono"/>
                <a:cs typeface="Roboto Mono"/>
                <a:sym typeface="Roboto Mono"/>
              </a:rPr>
              <a:t>(p)</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return</a:t>
            </a:r>
            <a:r>
              <a:rPr lang="en" sz="1600">
                <a:solidFill>
                  <a:schemeClr val="lt1"/>
                </a:solidFill>
                <a:latin typeface="Roboto Mono"/>
                <a:ea typeface="Roboto Mono"/>
                <a:cs typeface="Roboto Mono"/>
                <a:sym typeface="Roboto Mono"/>
              </a:rPr>
              <a:t> C.</a:t>
            </a:r>
            <a:r>
              <a:rPr lang="en" sz="1600">
                <a:solidFill>
                  <a:srgbClr val="00FF00"/>
                </a:solidFill>
                <a:latin typeface="Roboto Mono"/>
                <a:ea typeface="Roboto Mono"/>
                <a:cs typeface="Roboto Mono"/>
                <a:sym typeface="Roboto Mono"/>
              </a:rPr>
              <a:t>int</a:t>
            </a:r>
            <a:r>
              <a:rPr lang="en" sz="1600">
                <a:solidFill>
                  <a:schemeClr val="lt1"/>
                </a:solidFill>
                <a:latin typeface="Roboto Mono"/>
                <a:ea typeface="Roboto Mono"/>
                <a:cs typeface="Roboto Mono"/>
                <a:sym typeface="Roboto Mono"/>
              </a:rPr>
              <a:t>(globalFiles.</a:t>
            </a:r>
            <a:r>
              <a:rPr lang="en" sz="1600">
                <a:solidFill>
                  <a:srgbClr val="6D9EEB"/>
                </a:solidFill>
                <a:latin typeface="Roboto Mono"/>
                <a:ea typeface="Roboto Mono"/>
                <a:cs typeface="Roboto Mono"/>
                <a:sym typeface="Roboto Mono"/>
              </a:rPr>
              <a:t>register</a:t>
            </a:r>
            <a:r>
              <a:rPr lang="en" sz="1600">
                <a:solidFill>
                  <a:schemeClr val="lt1"/>
                </a:solidFill>
                <a:latin typeface="Roboto Mono"/>
                <a:ea typeface="Roboto Mono"/>
                <a:cs typeface="Roboto Mono"/>
                <a:sym typeface="Roboto Mono"/>
              </a:rPr>
              <a:t>(f))</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None/>
            </a:pPr>
            <a:r>
              <a:t/>
            </a:r>
            <a:endParaRPr sz="1600">
              <a:solidFill>
                <a:schemeClr val="lt1"/>
              </a:solidFill>
              <a:latin typeface="Roboto Mono"/>
              <a:ea typeface="Roboto Mono"/>
              <a:cs typeface="Roboto Mono"/>
              <a:sym typeface="Roboto Mono"/>
            </a:endParaRPr>
          </a:p>
          <a:p>
            <a:pPr indent="0" lvl="0" marL="0" rtl="0" algn="l">
              <a:spcBef>
                <a:spcPts val="1200"/>
              </a:spcBef>
              <a:spcAft>
                <a:spcPts val="1200"/>
              </a:spcAft>
              <a:buNone/>
            </a:pPr>
            <a:r>
              <a:t/>
            </a:r>
            <a:endParaRPr sz="1600">
              <a:solidFill>
                <a:schemeClr val="lt1"/>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mapping C calls to fs.FS</a:t>
            </a:r>
            <a:endParaRPr b="1" sz="2620">
              <a:latin typeface="Roboto Mono"/>
              <a:ea typeface="Roboto Mono"/>
              <a:cs typeface="Roboto Mono"/>
              <a:sym typeface="Roboto Mono"/>
            </a:endParaRPr>
          </a:p>
        </p:txBody>
      </p:sp>
      <p:sp>
        <p:nvSpPr>
          <p:cNvPr id="183" name="Google Shape;183;p32"/>
          <p:cNvSpPr txBox="1"/>
          <p:nvPr>
            <p:ph idx="1" type="body"/>
          </p:nvPr>
        </p:nvSpPr>
        <p:spPr>
          <a:xfrm>
            <a:off x="311700" y="1201750"/>
            <a:ext cx="8520600" cy="33672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class</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GoFileSystem</a:t>
            </a:r>
            <a:r>
              <a:rPr lang="en" sz="1600">
                <a:solidFill>
                  <a:schemeClr val="lt1"/>
                </a:solidFill>
                <a:latin typeface="Roboto Mono"/>
                <a:ea typeface="Roboto Mono"/>
                <a:cs typeface="Roboto Mono"/>
                <a:sym typeface="Roboto Mono"/>
              </a:rPr>
              <a:t> : </a:t>
            </a:r>
            <a:r>
              <a:rPr lang="en" sz="1600">
                <a:solidFill>
                  <a:srgbClr val="00FFFF"/>
                </a:solidFill>
                <a:latin typeface="Roboto Mono"/>
                <a:ea typeface="Roboto Mono"/>
                <a:cs typeface="Roboto Mono"/>
                <a:sym typeface="Roboto Mono"/>
              </a:rPr>
              <a:t>public</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FileSystem</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public</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GoFileSystem</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int</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id</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FileSystem</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id</a:t>
            </a:r>
            <a:r>
              <a:rPr lang="en" sz="1600">
                <a:solidFill>
                  <a:schemeClr val="lt1"/>
                </a:solidFill>
                <a:latin typeface="Roboto Mono"/>
                <a:ea typeface="Roboto Mono"/>
                <a:cs typeface="Roboto Mono"/>
                <a:sym typeface="Roboto Mono"/>
              </a:rPr>
              <a:t>(id)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1200"/>
              </a:spcAft>
              <a:buNone/>
            </a:pPr>
            <a:r>
              <a:t/>
            </a:r>
            <a:endParaRPr sz="1600">
              <a:solidFill>
                <a:schemeClr val="lt1"/>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7" name="Shape 187"/>
        <p:cNvGrpSpPr/>
        <p:nvPr/>
      </p:nvGrpSpPr>
      <p:grpSpPr>
        <a:xfrm>
          <a:off x="0" y="0"/>
          <a:ext cx="0" cy="0"/>
          <a:chOff x="0" y="0"/>
          <a:chExt cx="0" cy="0"/>
        </a:xfrm>
      </p:grpSpPr>
      <p:sp>
        <p:nvSpPr>
          <p:cNvPr id="188" name="Google Shape;188;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mapping C calls to fs.FS</a:t>
            </a:r>
            <a:endParaRPr b="1" sz="2620">
              <a:latin typeface="Roboto Mono"/>
              <a:ea typeface="Roboto Mono"/>
              <a:cs typeface="Roboto Mono"/>
              <a:sym typeface="Roboto Mono"/>
            </a:endParaRPr>
          </a:p>
        </p:txBody>
      </p:sp>
      <p:sp>
        <p:nvSpPr>
          <p:cNvPr id="189" name="Google Shape;189;p33"/>
          <p:cNvSpPr txBox="1"/>
          <p:nvPr>
            <p:ph idx="1" type="body"/>
          </p:nvPr>
        </p:nvSpPr>
        <p:spPr>
          <a:xfrm>
            <a:off x="311700" y="1201750"/>
            <a:ext cx="8520600" cy="33672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class</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GoFileHandle</a:t>
            </a:r>
            <a:r>
              <a:rPr lang="en" sz="1600">
                <a:solidFill>
                  <a:schemeClr val="lt1"/>
                </a:solidFill>
                <a:latin typeface="Roboto Mono"/>
                <a:ea typeface="Roboto Mono"/>
                <a:cs typeface="Roboto Mono"/>
                <a:sym typeface="Roboto Mono"/>
              </a:rPr>
              <a:t> : </a:t>
            </a:r>
            <a:r>
              <a:rPr lang="en" sz="1600">
                <a:solidFill>
                  <a:srgbClr val="00FFFF"/>
                </a:solidFill>
                <a:latin typeface="Roboto Mono"/>
                <a:ea typeface="Roboto Mono"/>
                <a:cs typeface="Roboto Mono"/>
                <a:sym typeface="Roboto Mono"/>
              </a:rPr>
              <a:t>public</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FileHandle</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rgbClr val="00FFFF"/>
                </a:solidFill>
                <a:latin typeface="Roboto Mono"/>
                <a:ea typeface="Roboto Mono"/>
                <a:cs typeface="Roboto Mono"/>
                <a:sym typeface="Roboto Mono"/>
              </a:rPr>
              <a:t>public</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GoFileHandle</a:t>
            </a: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override</a:t>
            </a: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duckfs_file_close</a:t>
            </a:r>
            <a:r>
              <a:rPr lang="en" sz="1600">
                <a:solidFill>
                  <a:schemeClr val="lt1"/>
                </a:solidFill>
                <a:latin typeface="Roboto Mono"/>
                <a:ea typeface="Roboto Mono"/>
                <a:cs typeface="Roboto Mono"/>
                <a:sym typeface="Roboto Mono"/>
              </a:rPr>
              <a:t>(</a:t>
            </a:r>
            <a:r>
              <a:rPr lang="en" sz="1600">
                <a:solidFill>
                  <a:srgbClr val="00FFFF"/>
                </a:solidFill>
                <a:latin typeface="Roboto Mono"/>
                <a:ea typeface="Roboto Mono"/>
                <a:cs typeface="Roboto Mono"/>
                <a:sym typeface="Roboto Mono"/>
              </a:rPr>
              <a:t>this</a:t>
            </a:r>
            <a:r>
              <a:rPr lang="en" sz="1600">
                <a:solidFill>
                  <a:schemeClr val="lt1"/>
                </a:solidFill>
                <a:latin typeface="Roboto Mono"/>
                <a:ea typeface="Roboto Mono"/>
                <a:cs typeface="Roboto Mono"/>
                <a:sym typeface="Roboto Mono"/>
              </a:rPr>
              <a:t>-&gt;id);</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sz="1600">
                <a:solidFill>
                  <a:schemeClr val="lt1"/>
                </a:solidFill>
                <a:latin typeface="Roboto Mono"/>
                <a:ea typeface="Roboto Mono"/>
                <a:cs typeface="Roboto Mono"/>
                <a:sym typeface="Roboto Mono"/>
              </a:rPr>
              <a:t>    }</a:t>
            </a:r>
            <a:endParaRPr sz="1600">
              <a:solidFill>
                <a:schemeClr val="lt1"/>
              </a:solidFill>
              <a:latin typeface="Roboto Mono"/>
              <a:ea typeface="Roboto Mono"/>
              <a:cs typeface="Roboto Mono"/>
              <a:sym typeface="Roboto Mono"/>
            </a:endParaRPr>
          </a:p>
          <a:p>
            <a:pPr indent="0" lvl="0" marL="0" rtl="0" algn="l">
              <a:spcBef>
                <a:spcPts val="1200"/>
              </a:spcBef>
              <a:spcAft>
                <a:spcPts val="0"/>
              </a:spcAft>
              <a:buNone/>
            </a:pP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a:p>
            <a:pPr indent="0" lvl="0" marL="0" rtl="0" algn="l">
              <a:spcBef>
                <a:spcPts val="1200"/>
              </a:spcBef>
              <a:spcAft>
                <a:spcPts val="1200"/>
              </a:spcAft>
              <a:buNone/>
            </a:pP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3" name="Shape 193"/>
        <p:cNvGrpSpPr/>
        <p:nvPr/>
      </p:nvGrpSpPr>
      <p:grpSpPr>
        <a:xfrm>
          <a:off x="0" y="0"/>
          <a:ext cx="0" cy="0"/>
          <a:chOff x="0" y="0"/>
          <a:chExt cx="0" cy="0"/>
        </a:xfrm>
      </p:grpSpPr>
      <p:sp>
        <p:nvSpPr>
          <p:cNvPr id="194" name="Google Shape;19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a:t>
            </a:r>
            <a:r>
              <a:rPr b="1" lang="en" sz="2620">
                <a:latin typeface="Roboto Mono"/>
                <a:ea typeface="Roboto Mono"/>
                <a:cs typeface="Roboto Mono"/>
                <a:sym typeface="Roboto Mono"/>
              </a:rPr>
              <a:t>context.Context propagation</a:t>
            </a:r>
            <a:endParaRPr b="1" sz="2620">
              <a:latin typeface="Roboto Mono"/>
              <a:ea typeface="Roboto Mono"/>
              <a:cs typeface="Roboto Mono"/>
              <a:sym typeface="Roboto Mono"/>
            </a:endParaRPr>
          </a:p>
        </p:txBody>
      </p:sp>
      <p:sp>
        <p:nvSpPr>
          <p:cNvPr id="195" name="Google Shape;195;p34"/>
          <p:cNvSpPr txBox="1"/>
          <p:nvPr>
            <p:ph idx="1" type="body"/>
          </p:nvPr>
        </p:nvSpPr>
        <p:spPr>
          <a:xfrm>
            <a:off x="311700" y="1073575"/>
            <a:ext cx="8520600" cy="3495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br>
              <a:rPr lang="en" sz="2600">
                <a:solidFill>
                  <a:srgbClr val="B7B7B7"/>
                </a:solidFill>
                <a:latin typeface="Roboto Mono"/>
                <a:ea typeface="Roboto Mono"/>
                <a:cs typeface="Roboto Mono"/>
                <a:sym typeface="Roboto Mono"/>
              </a:rPr>
            </a:br>
            <a:r>
              <a:rPr lang="en" sz="2600">
                <a:solidFill>
                  <a:srgbClr val="B7B7B7"/>
                </a:solidFill>
                <a:latin typeface="Roboto Mono"/>
                <a:ea typeface="Roboto Mono"/>
                <a:cs typeface="Roboto Mono"/>
                <a:sym typeface="Roboto Mono"/>
              </a:rPr>
              <a:t>// BROKEN: ctx not passed to VFS</a:t>
            </a:r>
            <a:endParaRPr sz="2600">
              <a:solidFill>
                <a:srgbClr val="B7B7B7"/>
              </a:solidFill>
              <a:latin typeface="Roboto Mono"/>
              <a:ea typeface="Roboto Mono"/>
              <a:cs typeface="Roboto Mono"/>
              <a:sym typeface="Roboto Mono"/>
            </a:endParaRPr>
          </a:p>
          <a:p>
            <a:pPr indent="0" lvl="0" marL="0" rtl="0" algn="l">
              <a:spcBef>
                <a:spcPts val="1200"/>
              </a:spcBef>
              <a:spcAft>
                <a:spcPts val="0"/>
              </a:spcAft>
              <a:buNone/>
            </a:pPr>
            <a:r>
              <a:rPr lang="en" sz="2600">
                <a:solidFill>
                  <a:schemeClr val="lt1"/>
                </a:solidFill>
                <a:latin typeface="Roboto Mono"/>
                <a:ea typeface="Roboto Mono"/>
                <a:cs typeface="Roboto Mono"/>
                <a:sym typeface="Roboto Mono"/>
              </a:rPr>
              <a:t>rows, err := db.</a:t>
            </a:r>
            <a:r>
              <a:rPr lang="en" sz="2600">
                <a:solidFill>
                  <a:srgbClr val="6D9EEB"/>
                </a:solidFill>
                <a:latin typeface="Roboto Mono"/>
                <a:ea typeface="Roboto Mono"/>
                <a:cs typeface="Roboto Mono"/>
                <a:sym typeface="Roboto Mono"/>
              </a:rPr>
              <a:t>QueryContext</a:t>
            </a:r>
            <a:r>
              <a:rPr lang="en" sz="2600">
                <a:solidFill>
                  <a:schemeClr val="lt1"/>
                </a:solidFill>
                <a:latin typeface="Roboto Mono"/>
                <a:ea typeface="Roboto Mono"/>
                <a:cs typeface="Roboto Mono"/>
                <a:sym typeface="Roboto Mono"/>
              </a:rPr>
              <a:t>(</a:t>
            </a:r>
            <a:r>
              <a:rPr b="1" lang="en" sz="2600">
                <a:solidFill>
                  <a:schemeClr val="lt1"/>
                </a:solidFill>
                <a:latin typeface="Roboto Mono"/>
                <a:ea typeface="Roboto Mono"/>
                <a:cs typeface="Roboto Mono"/>
                <a:sym typeface="Roboto Mono"/>
              </a:rPr>
              <a:t>ctx</a:t>
            </a:r>
            <a:r>
              <a:rPr lang="en" sz="2600">
                <a:solidFill>
                  <a:schemeClr val="lt1"/>
                </a:solidFill>
                <a:latin typeface="Roboto Mono"/>
                <a:ea typeface="Roboto Mono"/>
                <a:cs typeface="Roboto Mono"/>
                <a:sym typeface="Roboto Mono"/>
              </a:rPr>
              <a:t>,</a:t>
            </a:r>
            <a:endParaRPr sz="2600">
              <a:solidFill>
                <a:schemeClr val="lt1"/>
              </a:solidFill>
              <a:latin typeface="Roboto Mono"/>
              <a:ea typeface="Roboto Mono"/>
              <a:cs typeface="Roboto Mono"/>
              <a:sym typeface="Roboto Mono"/>
            </a:endParaRPr>
          </a:p>
          <a:p>
            <a:pPr indent="0" lvl="0" marL="0" rtl="0" algn="l">
              <a:spcBef>
                <a:spcPts val="1200"/>
              </a:spcBef>
              <a:spcAft>
                <a:spcPts val="1200"/>
              </a:spcAft>
              <a:buNone/>
            </a:pPr>
            <a:r>
              <a:rPr lang="en" sz="2600">
                <a:solidFill>
                  <a:schemeClr val="lt1"/>
                </a:solidFill>
                <a:latin typeface="Roboto Mono"/>
                <a:ea typeface="Roboto Mono"/>
                <a:cs typeface="Roboto Mono"/>
                <a:sym typeface="Roboto Mono"/>
              </a:rPr>
              <a:t>    </a:t>
            </a:r>
            <a:r>
              <a:rPr lang="en" sz="2600">
                <a:solidFill>
                  <a:srgbClr val="00FF00"/>
                </a:solidFill>
                <a:latin typeface="Roboto Mono"/>
                <a:ea typeface="Roboto Mono"/>
                <a:cs typeface="Roboto Mono"/>
                <a:sym typeface="Roboto Mono"/>
              </a:rPr>
              <a:t>`SELECT name FROM '</a:t>
            </a:r>
            <a:r>
              <a:rPr lang="en" sz="2600">
                <a:solidFill>
                  <a:srgbClr val="00FF00"/>
                </a:solidFill>
                <a:latin typeface="Roboto Mono"/>
                <a:ea typeface="Roboto Mono"/>
                <a:cs typeface="Roboto Mono"/>
                <a:sym typeface="Roboto Mono"/>
              </a:rPr>
              <a:t>https://gophercon.com</a:t>
            </a:r>
            <a:r>
              <a:rPr lang="en" sz="2600">
                <a:solidFill>
                  <a:srgbClr val="00FF00"/>
                </a:solidFill>
                <a:latin typeface="Roboto Mono"/>
                <a:ea typeface="Roboto Mono"/>
                <a:cs typeface="Roboto Mono"/>
                <a:sym typeface="Roboto Mono"/>
              </a:rPr>
              <a:t>/gophers.parquet'`</a:t>
            </a:r>
            <a:r>
              <a:rPr lang="en" sz="2600">
                <a:solidFill>
                  <a:schemeClr val="lt1"/>
                </a:solidFill>
                <a:latin typeface="Roboto Mono"/>
                <a:ea typeface="Roboto Mono"/>
                <a:cs typeface="Roboto Mono"/>
                <a:sym typeface="Roboto Mono"/>
              </a:rPr>
              <a:t>)</a:t>
            </a:r>
            <a:br>
              <a:rPr lang="en" sz="2600">
                <a:solidFill>
                  <a:schemeClr val="lt1"/>
                </a:solidFill>
                <a:latin typeface="Roboto Mono"/>
                <a:ea typeface="Roboto Mono"/>
                <a:cs typeface="Roboto Mono"/>
                <a:sym typeface="Roboto Mono"/>
              </a:rPr>
            </a:br>
            <a:r>
              <a:rPr lang="en" sz="2600">
                <a:solidFill>
                  <a:schemeClr val="lt1"/>
                </a:solidFill>
                <a:latin typeface="Roboto Mono"/>
                <a:ea typeface="Roboto Mono"/>
                <a:cs typeface="Roboto Mono"/>
                <a:sym typeface="Roboto Mono"/>
              </a:rPr>
              <a:t>...</a:t>
            </a:r>
            <a:endParaRPr sz="2600">
              <a:solidFill>
                <a:schemeClr val="lt1"/>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9" name="Shape 199"/>
        <p:cNvGrpSpPr/>
        <p:nvPr/>
      </p:nvGrpSpPr>
      <p:grpSpPr>
        <a:xfrm>
          <a:off x="0" y="0"/>
          <a:ext cx="0" cy="0"/>
          <a:chOff x="0" y="0"/>
          <a:chExt cx="0" cy="0"/>
        </a:xfrm>
      </p:grpSpPr>
      <p:sp>
        <p:nvSpPr>
          <p:cNvPr id="200" name="Google Shape;2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context.Context propagation</a:t>
            </a:r>
            <a:endParaRPr b="1" sz="2620">
              <a:latin typeface="Roboto Mono"/>
              <a:ea typeface="Roboto Mono"/>
              <a:cs typeface="Roboto Mono"/>
              <a:sym typeface="Roboto Mono"/>
            </a:endParaRPr>
          </a:p>
        </p:txBody>
      </p:sp>
      <p:sp>
        <p:nvSpPr>
          <p:cNvPr id="201" name="Google Shape;201;p35"/>
          <p:cNvSpPr txBox="1"/>
          <p:nvPr>
            <p:ph idx="1" type="body"/>
          </p:nvPr>
        </p:nvSpPr>
        <p:spPr>
          <a:xfrm>
            <a:off x="311700" y="1201750"/>
            <a:ext cx="8520600" cy="3941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FFFF"/>
                </a:solidFill>
                <a:latin typeface="Roboto Mono"/>
                <a:ea typeface="Roboto Mono"/>
                <a:cs typeface="Roboto Mono"/>
                <a:sym typeface="Roboto Mono"/>
              </a:rPr>
              <a:t>f</a:t>
            </a:r>
            <a:r>
              <a:rPr lang="en" sz="1600">
                <a:solidFill>
                  <a:srgbClr val="00FFFF"/>
                </a:solidFill>
                <a:latin typeface="Roboto Mono"/>
                <a:ea typeface="Roboto Mono"/>
                <a:cs typeface="Roboto Mono"/>
                <a:sym typeface="Roboto Mono"/>
              </a:rPr>
              <a:t>unc</a:t>
            </a: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HTTPFS</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ctx</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context</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Context</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client</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http</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Client</a:t>
            </a:r>
            <a:r>
              <a:rPr lang="en" sz="1600">
                <a:solidFill>
                  <a:schemeClr val="lt1"/>
                </a:solidFill>
                <a:latin typeface="Roboto Mono"/>
                <a:ea typeface="Roboto Mono"/>
                <a:cs typeface="Roboto Mono"/>
                <a:sym typeface="Roboto Mono"/>
              </a:rPr>
              <a:t>) </a:t>
            </a:r>
            <a:r>
              <a:rPr lang="en" sz="1600" u="sng">
                <a:solidFill>
                  <a:srgbClr val="00FF00"/>
                </a:solidFill>
                <a:latin typeface="Roboto Mono"/>
                <a:ea typeface="Roboto Mono"/>
                <a:cs typeface="Roboto Mono"/>
                <a:sym typeface="Roboto Mono"/>
                <a:hlinkClick r:id="rId3">
                  <a:extLst>
                    <a:ext uri="{A12FA001-AC4F-418D-AE19-62706E023703}">
                      <ahyp:hlinkClr val="tx"/>
                    </a:ext>
                  </a:extLst>
                </a:hlinkClick>
              </a:rPr>
              <a:t>fs</a:t>
            </a:r>
            <a:r>
              <a:rPr lang="en" sz="1600" u="sng">
                <a:solidFill>
                  <a:schemeClr val="lt1"/>
                </a:solidFill>
                <a:latin typeface="Roboto Mono"/>
                <a:ea typeface="Roboto Mono"/>
                <a:cs typeface="Roboto Mono"/>
                <a:sym typeface="Roboto Mono"/>
                <a:hlinkClick r:id="rId4">
                  <a:extLst>
                    <a:ext uri="{A12FA001-AC4F-418D-AE19-62706E023703}">
                      <ahyp:hlinkClr val="tx"/>
                    </a:ext>
                  </a:extLst>
                </a:hlinkClick>
              </a:rPr>
              <a:t>.</a:t>
            </a:r>
            <a:r>
              <a:rPr lang="en" sz="1600" u="sng">
                <a:solidFill>
                  <a:srgbClr val="00FF00"/>
                </a:solidFill>
                <a:latin typeface="Roboto Mono"/>
                <a:ea typeface="Roboto Mono"/>
                <a:cs typeface="Roboto Mono"/>
                <a:sym typeface="Roboto Mono"/>
                <a:hlinkClick r:id="rId5">
                  <a:extLst>
                    <a:ext uri="{A12FA001-AC4F-418D-AE19-62706E023703}">
                      <ahyp:hlinkClr val="tx"/>
                    </a:ext>
                  </a:extLst>
                </a:hlinkClick>
              </a:rPr>
              <a:t>FS</a:t>
            </a:r>
            <a:r>
              <a:rPr lang="en" sz="1600">
                <a:solidFill>
                  <a:schemeClr val="lt1"/>
                </a:solidFill>
                <a:latin typeface="Roboto Mono"/>
                <a:ea typeface="Roboto Mono"/>
                <a:cs typeface="Roboto Mono"/>
                <a:sym typeface="Roboto Mono"/>
              </a:rPr>
              <a:t> {</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r</a:t>
            </a:r>
            <a:r>
              <a:rPr lang="en" sz="1600">
                <a:solidFill>
                  <a:srgbClr val="00FFFF"/>
                </a:solidFill>
                <a:latin typeface="Roboto Mono"/>
                <a:ea typeface="Roboto Mono"/>
                <a:cs typeface="Roboto Mono"/>
                <a:sym typeface="Roboto Mono"/>
              </a:rPr>
              <a:t>eturn</a:t>
            </a:r>
            <a:r>
              <a:rPr lang="en" sz="1600">
                <a:solidFill>
                  <a:schemeClr val="lt1"/>
                </a:solidFill>
                <a:latin typeface="Roboto Mono"/>
                <a:ea typeface="Roboto Mono"/>
                <a:cs typeface="Roboto Mono"/>
                <a:sym typeface="Roboto Mono"/>
              </a:rPr>
              <a:t> &amp;</a:t>
            </a:r>
            <a:r>
              <a:rPr lang="en" sz="1600">
                <a:solidFill>
                  <a:srgbClr val="00FF00"/>
                </a:solidFill>
                <a:latin typeface="Roboto Mono"/>
                <a:ea typeface="Roboto Mono"/>
                <a:cs typeface="Roboto Mono"/>
                <a:sym typeface="Roboto Mono"/>
              </a:rPr>
              <a:t>httpFS</a:t>
            </a:r>
            <a:r>
              <a:rPr lang="en" sz="1600">
                <a:solidFill>
                  <a:schemeClr val="lt1"/>
                </a:solidFill>
                <a:latin typeface="Roboto Mono"/>
                <a:ea typeface="Roboto Mono"/>
                <a:cs typeface="Roboto Mono"/>
                <a:sym typeface="Roboto Mono"/>
              </a:rPr>
              <a:t>{</a:t>
            </a:r>
            <a:r>
              <a:rPr lang="en" sz="1600">
                <a:solidFill>
                  <a:srgbClr val="FF00FF"/>
                </a:solidFill>
                <a:latin typeface="Roboto Mono"/>
                <a:ea typeface="Roboto Mono"/>
                <a:cs typeface="Roboto Mono"/>
                <a:sym typeface="Roboto Mono"/>
              </a:rPr>
              <a:t>ctx</a:t>
            </a:r>
            <a:r>
              <a:rPr lang="en" sz="1600">
                <a:solidFill>
                  <a:schemeClr val="lt1"/>
                </a:solidFill>
                <a:latin typeface="Roboto Mono"/>
                <a:ea typeface="Roboto Mono"/>
                <a:cs typeface="Roboto Mono"/>
                <a:sym typeface="Roboto Mono"/>
              </a:rPr>
              <a:t>: ctx, </a:t>
            </a:r>
            <a:r>
              <a:rPr lang="en" sz="1600">
                <a:solidFill>
                  <a:srgbClr val="FF00FF"/>
                </a:solidFill>
                <a:latin typeface="Roboto Mono"/>
                <a:ea typeface="Roboto Mono"/>
                <a:cs typeface="Roboto Mono"/>
                <a:sym typeface="Roboto Mono"/>
              </a:rPr>
              <a:t>client</a:t>
            </a:r>
            <a:r>
              <a:rPr lang="en" sz="1600">
                <a:solidFill>
                  <a:schemeClr val="lt1"/>
                </a:solidFill>
                <a:latin typeface="Roboto Mono"/>
                <a:ea typeface="Roboto Mono"/>
                <a:cs typeface="Roboto Mono"/>
                <a:sym typeface="Roboto Mono"/>
              </a:rPr>
              <a:t>: client}</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a:t>
            </a:r>
            <a:br>
              <a:rPr lang="en" sz="1600">
                <a:solidFill>
                  <a:schemeClr val="lt1"/>
                </a:solidFill>
                <a:latin typeface="Roboto Mono"/>
                <a:ea typeface="Roboto Mono"/>
                <a:cs typeface="Roboto Mono"/>
                <a:sym typeface="Roboto Mono"/>
              </a:rPr>
            </a:br>
            <a:br>
              <a:rPr lang="en" sz="1600">
                <a:solidFill>
                  <a:schemeClr val="lt1"/>
                </a:solidFill>
                <a:latin typeface="Roboto Mono"/>
                <a:ea typeface="Roboto Mono"/>
                <a:cs typeface="Roboto Mono"/>
                <a:sym typeface="Roboto Mono"/>
              </a:rPr>
            </a:br>
            <a:r>
              <a:rPr lang="en" sz="1600">
                <a:solidFill>
                  <a:srgbClr val="00FFFF"/>
                </a:solidFill>
                <a:latin typeface="Roboto Mono"/>
                <a:ea typeface="Roboto Mono"/>
                <a:cs typeface="Roboto Mono"/>
                <a:sym typeface="Roboto Mono"/>
              </a:rPr>
              <a:t>t</a:t>
            </a:r>
            <a:r>
              <a:rPr lang="en" sz="1600">
                <a:solidFill>
                  <a:srgbClr val="00FFFF"/>
                </a:solidFill>
                <a:latin typeface="Roboto Mono"/>
                <a:ea typeface="Roboto Mono"/>
                <a:cs typeface="Roboto Mono"/>
                <a:sym typeface="Roboto Mono"/>
              </a:rPr>
              <a:t>ype</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httpFS</a:t>
            </a: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struct</a:t>
            </a:r>
            <a:r>
              <a:rPr lang="en" sz="1600">
                <a:solidFill>
                  <a:schemeClr val="lt1"/>
                </a:solidFill>
                <a:latin typeface="Roboto Mono"/>
                <a:ea typeface="Roboto Mono"/>
                <a:cs typeface="Roboto Mono"/>
                <a:sym typeface="Roboto Mono"/>
              </a:rPr>
              <a:t> {</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c</a:t>
            </a:r>
            <a:r>
              <a:rPr lang="en" sz="1600">
                <a:solidFill>
                  <a:schemeClr val="lt1"/>
                </a:solidFill>
                <a:latin typeface="Roboto Mono"/>
                <a:ea typeface="Roboto Mono"/>
                <a:cs typeface="Roboto Mono"/>
                <a:sym typeface="Roboto Mono"/>
              </a:rPr>
              <a:t>tx    </a:t>
            </a:r>
            <a:r>
              <a:rPr lang="en" sz="1600">
                <a:solidFill>
                  <a:srgbClr val="00FF00"/>
                </a:solidFill>
                <a:latin typeface="Roboto Mono"/>
                <a:ea typeface="Roboto Mono"/>
                <a:cs typeface="Roboto Mono"/>
                <a:sym typeface="Roboto Mono"/>
              </a:rPr>
              <a:t>context</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Context</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c</a:t>
            </a:r>
            <a:r>
              <a:rPr lang="en" sz="1600">
                <a:solidFill>
                  <a:schemeClr val="lt1"/>
                </a:solidFill>
                <a:latin typeface="Roboto Mono"/>
                <a:ea typeface="Roboto Mono"/>
                <a:cs typeface="Roboto Mono"/>
                <a:sym typeface="Roboto Mono"/>
              </a:rPr>
              <a:t>lient *</a:t>
            </a:r>
            <a:r>
              <a:rPr lang="en" sz="1600">
                <a:solidFill>
                  <a:srgbClr val="00FF00"/>
                </a:solidFill>
                <a:latin typeface="Roboto Mono"/>
                <a:ea typeface="Roboto Mono"/>
                <a:cs typeface="Roboto Mono"/>
                <a:sym typeface="Roboto Mono"/>
              </a:rPr>
              <a:t>http</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Client</a:t>
            </a:r>
            <a:endParaRPr sz="1600">
              <a:solidFill>
                <a:srgbClr val="00FF00"/>
              </a:solidFill>
              <a:latin typeface="Roboto Mono"/>
              <a:ea typeface="Roboto Mono"/>
              <a:cs typeface="Roboto Mono"/>
              <a:sym typeface="Roboto Mono"/>
            </a:endParaRPr>
          </a:p>
          <a:p>
            <a:pPr indent="0" lvl="0" marL="0" rtl="0" algn="l">
              <a:spcBef>
                <a:spcPts val="1200"/>
              </a:spcBef>
              <a:spcAft>
                <a:spcPts val="1200"/>
              </a:spcAft>
              <a:buNone/>
            </a:pPr>
            <a:r>
              <a:rPr lang="en" sz="1600">
                <a:solidFill>
                  <a:schemeClr val="lt1"/>
                </a:solidFill>
                <a:latin typeface="Roboto Mono"/>
                <a:ea typeface="Roboto Mono"/>
                <a:cs typeface="Roboto Mono"/>
                <a:sym typeface="Roboto Mono"/>
              </a:rPr>
              <a:t>}</a:t>
            </a:r>
            <a:br>
              <a:rPr lang="en" sz="1600">
                <a:solidFill>
                  <a:schemeClr val="lt1"/>
                </a:solidFill>
                <a:latin typeface="Roboto Mono"/>
                <a:ea typeface="Roboto Mono"/>
                <a:cs typeface="Roboto Mono"/>
                <a:sym typeface="Roboto Mono"/>
              </a:rPr>
            </a:br>
            <a:br>
              <a:rPr lang="en" sz="1600">
                <a:solidFill>
                  <a:schemeClr val="lt1"/>
                </a:solidFill>
                <a:latin typeface="Roboto Mono"/>
                <a:ea typeface="Roboto Mono"/>
                <a:cs typeface="Roboto Mono"/>
                <a:sym typeface="Roboto Mono"/>
              </a:rPr>
            </a:br>
            <a:r>
              <a:rPr lang="en" sz="1600">
                <a:solidFill>
                  <a:srgbClr val="00FFFF"/>
                </a:solidFill>
                <a:latin typeface="Roboto Mono"/>
                <a:ea typeface="Roboto Mono"/>
                <a:cs typeface="Roboto Mono"/>
                <a:sym typeface="Roboto Mono"/>
              </a:rPr>
              <a:t>f</a:t>
            </a:r>
            <a:r>
              <a:rPr lang="en" sz="1600">
                <a:solidFill>
                  <a:srgbClr val="00FFFF"/>
                </a:solidFill>
                <a:latin typeface="Roboto Mono"/>
                <a:ea typeface="Roboto Mono"/>
                <a:cs typeface="Roboto Mono"/>
                <a:sym typeface="Roboto Mono"/>
              </a:rPr>
              <a:t>unc</a:t>
            </a:r>
            <a:r>
              <a:rPr lang="en" sz="1600">
                <a:solidFill>
                  <a:schemeClr val="lt1"/>
                </a:solidFill>
                <a:latin typeface="Roboto Mono"/>
                <a:ea typeface="Roboto Mono"/>
                <a:cs typeface="Roboto Mono"/>
                <a:sym typeface="Roboto Mono"/>
              </a:rPr>
              <a:t> (</a:t>
            </a:r>
            <a:r>
              <a:rPr lang="en" sz="1600">
                <a:solidFill>
                  <a:srgbClr val="FFE599"/>
                </a:solidFill>
                <a:latin typeface="Roboto Mono"/>
                <a:ea typeface="Roboto Mono"/>
                <a:cs typeface="Roboto Mono"/>
                <a:sym typeface="Roboto Mono"/>
              </a:rPr>
              <a:t>fsys</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httpFS</a:t>
            </a:r>
            <a:r>
              <a:rPr lang="en" sz="1600">
                <a:solidFill>
                  <a:schemeClr val="lt1"/>
                </a:solidFill>
                <a:latin typeface="Roboto Mono"/>
                <a:ea typeface="Roboto Mono"/>
                <a:cs typeface="Roboto Mono"/>
                <a:sym typeface="Roboto Mono"/>
              </a:rPr>
              <a:t>) </a:t>
            </a:r>
            <a:r>
              <a:rPr lang="en" sz="1600">
                <a:solidFill>
                  <a:srgbClr val="6D9EEB"/>
                </a:solidFill>
                <a:latin typeface="Roboto Mono"/>
                <a:ea typeface="Roboto Mono"/>
                <a:cs typeface="Roboto Mono"/>
                <a:sym typeface="Roboto Mono"/>
              </a:rPr>
              <a:t>Open</a:t>
            </a:r>
            <a:r>
              <a:rPr lang="en" sz="1600">
                <a:solidFill>
                  <a:schemeClr val="lt1"/>
                </a:solidFill>
                <a:latin typeface="Roboto Mono"/>
                <a:ea typeface="Roboto Mono"/>
                <a:cs typeface="Roboto Mono"/>
                <a:sym typeface="Roboto Mono"/>
              </a:rPr>
              <a:t>(</a:t>
            </a:r>
            <a:r>
              <a:rPr lang="en" sz="1600">
                <a:solidFill>
                  <a:srgbClr val="FFE599"/>
                </a:solidFill>
                <a:latin typeface="Roboto Mono"/>
                <a:ea typeface="Roboto Mono"/>
                <a:cs typeface="Roboto Mono"/>
                <a:sym typeface="Roboto Mono"/>
              </a:rPr>
              <a:t>name</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string</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fs</a:t>
            </a:r>
            <a:r>
              <a:rPr lang="en" sz="1600">
                <a:solidFill>
                  <a:schemeClr val="lt1"/>
                </a:solidFill>
                <a:latin typeface="Roboto Mono"/>
                <a:ea typeface="Roboto Mono"/>
                <a:cs typeface="Roboto Mono"/>
                <a:sym typeface="Roboto Mono"/>
              </a:rPr>
              <a:t>.</a:t>
            </a:r>
            <a:r>
              <a:rPr lang="en" sz="1600">
                <a:solidFill>
                  <a:srgbClr val="00FF00"/>
                </a:solidFill>
                <a:latin typeface="Roboto Mono"/>
                <a:ea typeface="Roboto Mono"/>
                <a:cs typeface="Roboto Mono"/>
                <a:sym typeface="Roboto Mono"/>
              </a:rPr>
              <a:t>File</a:t>
            </a:r>
            <a:r>
              <a:rPr lang="en" sz="1600">
                <a:solidFill>
                  <a:schemeClr val="lt1"/>
                </a:solidFill>
                <a:latin typeface="Roboto Mono"/>
                <a:ea typeface="Roboto Mono"/>
                <a:cs typeface="Roboto Mono"/>
                <a:sym typeface="Roboto Mono"/>
              </a:rPr>
              <a:t>, </a:t>
            </a:r>
            <a:r>
              <a:rPr lang="en" sz="1600">
                <a:solidFill>
                  <a:srgbClr val="00FF00"/>
                </a:solidFill>
                <a:latin typeface="Roboto Mono"/>
                <a:ea typeface="Roboto Mono"/>
                <a:cs typeface="Roboto Mono"/>
                <a:sym typeface="Roboto Mono"/>
              </a:rPr>
              <a:t>error</a:t>
            </a:r>
            <a:r>
              <a:rPr lang="en" sz="1600">
                <a:solidFill>
                  <a:schemeClr val="lt1"/>
                </a:solidFill>
                <a:latin typeface="Roboto Mono"/>
                <a:ea typeface="Roboto Mono"/>
                <a:cs typeface="Roboto Mono"/>
                <a:sym typeface="Roboto Mono"/>
              </a:rPr>
              <a:t>) {</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chemeClr val="lt1"/>
                </a:solidFill>
                <a:latin typeface="Roboto Mono"/>
                <a:ea typeface="Roboto Mono"/>
                <a:cs typeface="Roboto Mono"/>
                <a:sym typeface="Roboto Mono"/>
              </a:rPr>
              <a:t>...</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    </a:t>
            </a:r>
            <a:r>
              <a:rPr lang="en" sz="1600">
                <a:solidFill>
                  <a:srgbClr val="00FFFF"/>
                </a:solidFill>
                <a:latin typeface="Roboto Mono"/>
                <a:ea typeface="Roboto Mono"/>
                <a:cs typeface="Roboto Mono"/>
                <a:sym typeface="Roboto Mono"/>
              </a:rPr>
              <a:t>r</a:t>
            </a:r>
            <a:r>
              <a:rPr lang="en" sz="1600">
                <a:solidFill>
                  <a:srgbClr val="00FFFF"/>
                </a:solidFill>
                <a:latin typeface="Roboto Mono"/>
                <a:ea typeface="Roboto Mono"/>
                <a:cs typeface="Roboto Mono"/>
                <a:sym typeface="Roboto Mono"/>
              </a:rPr>
              <a:t>eturn</a:t>
            </a:r>
            <a:r>
              <a:rPr lang="en" sz="1600">
                <a:solidFill>
                  <a:schemeClr val="lt1"/>
                </a:solidFill>
                <a:latin typeface="Roboto Mono"/>
                <a:ea typeface="Roboto Mono"/>
                <a:cs typeface="Roboto Mono"/>
                <a:sym typeface="Roboto Mono"/>
              </a:rPr>
              <a:t> &amp;</a:t>
            </a:r>
            <a:r>
              <a:rPr lang="en" sz="1600">
                <a:solidFill>
                  <a:srgbClr val="00FF00"/>
                </a:solidFill>
                <a:latin typeface="Roboto Mono"/>
                <a:ea typeface="Roboto Mono"/>
                <a:cs typeface="Roboto Mono"/>
                <a:sym typeface="Roboto Mono"/>
              </a:rPr>
              <a:t>httpFile</a:t>
            </a:r>
            <a:r>
              <a:rPr lang="en" sz="1600">
                <a:solidFill>
                  <a:schemeClr val="lt1"/>
                </a:solidFill>
                <a:latin typeface="Roboto Mono"/>
                <a:ea typeface="Roboto Mono"/>
                <a:cs typeface="Roboto Mono"/>
                <a:sym typeface="Roboto Mono"/>
              </a:rPr>
              <a:t>{</a:t>
            </a:r>
            <a:r>
              <a:rPr lang="en" sz="1600">
                <a:solidFill>
                  <a:srgbClr val="FF00FF"/>
                </a:solidFill>
                <a:latin typeface="Roboto Mono"/>
                <a:ea typeface="Roboto Mono"/>
                <a:cs typeface="Roboto Mono"/>
                <a:sym typeface="Roboto Mono"/>
              </a:rPr>
              <a:t>fsys</a:t>
            </a:r>
            <a:r>
              <a:rPr lang="en" sz="1600">
                <a:solidFill>
                  <a:schemeClr val="lt1"/>
                </a:solidFill>
                <a:latin typeface="Roboto Mono"/>
                <a:ea typeface="Roboto Mono"/>
                <a:cs typeface="Roboto Mono"/>
                <a:sym typeface="Roboto Mono"/>
              </a:rPr>
              <a:t>: fsys, </a:t>
            </a:r>
            <a:r>
              <a:rPr lang="en" sz="1600">
                <a:solidFill>
                  <a:srgbClr val="FF00FF"/>
                </a:solidFill>
                <a:latin typeface="Roboto Mono"/>
                <a:ea typeface="Roboto Mono"/>
                <a:cs typeface="Roboto Mono"/>
                <a:sym typeface="Roboto Mono"/>
              </a:rPr>
              <a:t>name</a:t>
            </a:r>
            <a:r>
              <a:rPr lang="en" sz="1600">
                <a:solidFill>
                  <a:schemeClr val="lt1"/>
                </a:solidFill>
                <a:latin typeface="Roboto Mono"/>
                <a:ea typeface="Roboto Mono"/>
                <a:cs typeface="Roboto Mono"/>
                <a:sym typeface="Roboto Mono"/>
              </a:rPr>
              <a:t>: name}, </a:t>
            </a:r>
            <a:r>
              <a:rPr lang="en" sz="1600">
                <a:solidFill>
                  <a:srgbClr val="FF00FF"/>
                </a:solidFill>
                <a:latin typeface="Roboto Mono"/>
                <a:ea typeface="Roboto Mono"/>
                <a:cs typeface="Roboto Mono"/>
                <a:sym typeface="Roboto Mono"/>
              </a:rPr>
              <a:t>nil</a:t>
            </a:r>
            <a:br>
              <a:rPr lang="en" sz="1600">
                <a:solidFill>
                  <a:schemeClr val="lt1"/>
                </a:solidFill>
                <a:latin typeface="Roboto Mono"/>
                <a:ea typeface="Roboto Mono"/>
                <a:cs typeface="Roboto Mono"/>
                <a:sym typeface="Roboto Mono"/>
              </a:rPr>
            </a:br>
            <a:r>
              <a:rPr lang="en" sz="1600">
                <a:solidFill>
                  <a:schemeClr val="lt1"/>
                </a:solidFill>
                <a:latin typeface="Roboto Mono"/>
                <a:ea typeface="Roboto Mono"/>
                <a:cs typeface="Roboto Mono"/>
                <a:sym typeface="Roboto Mono"/>
              </a:rPr>
              <a:t>}</a:t>
            </a:r>
            <a:endParaRPr sz="1600">
              <a:solidFill>
                <a:schemeClr val="lt1"/>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05" name="Shape 205"/>
        <p:cNvGrpSpPr/>
        <p:nvPr/>
      </p:nvGrpSpPr>
      <p:grpSpPr>
        <a:xfrm>
          <a:off x="0" y="0"/>
          <a:ext cx="0" cy="0"/>
          <a:chOff x="0" y="0"/>
          <a:chExt cx="0" cy="0"/>
        </a:xfrm>
      </p:grpSpPr>
      <p:sp>
        <p:nvSpPr>
          <p:cNvPr id="206" name="Google Shape;206;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CGO: context.Context propagation</a:t>
            </a:r>
            <a:endParaRPr b="1" sz="2620">
              <a:latin typeface="Roboto Mono"/>
              <a:ea typeface="Roboto Mono"/>
              <a:cs typeface="Roboto Mono"/>
              <a:sym typeface="Roboto Mono"/>
            </a:endParaRPr>
          </a:p>
        </p:txBody>
      </p:sp>
      <p:sp>
        <p:nvSpPr>
          <p:cNvPr id="207" name="Google Shape;207;p36"/>
          <p:cNvSpPr txBox="1"/>
          <p:nvPr>
            <p:ph idx="1" type="body"/>
          </p:nvPr>
        </p:nvSpPr>
        <p:spPr>
          <a:xfrm>
            <a:off x="311700" y="1073575"/>
            <a:ext cx="8520600" cy="34953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br>
              <a:rPr lang="en" sz="2500">
                <a:solidFill>
                  <a:srgbClr val="FFE599"/>
                </a:solidFill>
                <a:latin typeface="Roboto Mono"/>
                <a:ea typeface="Roboto Mono"/>
                <a:cs typeface="Roboto Mono"/>
                <a:sym typeface="Roboto Mono"/>
              </a:rPr>
            </a:br>
            <a:r>
              <a:rPr lang="en" sz="2500">
                <a:solidFill>
                  <a:schemeClr val="lt1"/>
                </a:solidFill>
                <a:latin typeface="Roboto Mono"/>
                <a:ea typeface="Roboto Mono"/>
                <a:cs typeface="Roboto Mono"/>
                <a:sym typeface="Roboto Mono"/>
              </a:rPr>
              <a:t>conn, err := duckfs.</a:t>
            </a:r>
            <a:r>
              <a:rPr lang="en" sz="2500">
                <a:solidFill>
                  <a:srgbClr val="6D9EEB"/>
                </a:solidFill>
                <a:latin typeface="Roboto Mono"/>
                <a:ea typeface="Roboto Mono"/>
                <a:cs typeface="Roboto Mono"/>
                <a:sym typeface="Roboto Mono"/>
              </a:rPr>
              <a:t>Open</a:t>
            </a:r>
            <a:r>
              <a:rPr lang="en" sz="2500">
                <a:solidFill>
                  <a:schemeClr val="lt1"/>
                </a:solidFill>
                <a:latin typeface="Roboto Mono"/>
                <a:ea typeface="Roboto Mono"/>
                <a:cs typeface="Roboto Mono"/>
                <a:sym typeface="Roboto Mono"/>
              </a:rPr>
              <a:t>(</a:t>
            </a:r>
            <a:r>
              <a:rPr lang="en" sz="2500">
                <a:solidFill>
                  <a:srgbClr val="00FF00"/>
                </a:solidFill>
                <a:latin typeface="Roboto Mono"/>
                <a:ea typeface="Roboto Mono"/>
                <a:cs typeface="Roboto Mono"/>
                <a:sym typeface="Roboto Mono"/>
              </a:rPr>
              <a:t>""</a:t>
            </a:r>
            <a:r>
              <a:rPr lang="en" sz="2500">
                <a:solidFill>
                  <a:schemeClr val="lt1"/>
                </a:solidFill>
                <a:latin typeface="Roboto Mono"/>
                <a:ea typeface="Roboto Mono"/>
                <a:cs typeface="Roboto Mono"/>
                <a:sym typeface="Roboto Mono"/>
              </a:rPr>
              <a:t>, </a:t>
            </a:r>
            <a:r>
              <a:rPr lang="en" sz="2500">
                <a:solidFill>
                  <a:srgbClr val="FF00FF"/>
                </a:solidFill>
                <a:latin typeface="Roboto Mono"/>
                <a:ea typeface="Roboto Mono"/>
                <a:cs typeface="Roboto Mono"/>
                <a:sym typeface="Roboto Mono"/>
              </a:rPr>
              <a:t>nil</a:t>
            </a:r>
            <a:r>
              <a:rPr lang="en" sz="2500">
                <a:solidFill>
                  <a:schemeClr val="lt1"/>
                </a:solidFill>
                <a:latin typeface="Roboto Mono"/>
                <a:ea typeface="Roboto Mono"/>
                <a:cs typeface="Roboto Mono"/>
                <a:sym typeface="Roboto Mono"/>
              </a:rPr>
              <a:t>, </a:t>
            </a:r>
            <a:r>
              <a:rPr b="1" lang="en" sz="2500">
                <a:solidFill>
                  <a:schemeClr val="lt1"/>
                </a:solidFill>
                <a:latin typeface="Roboto Mono"/>
                <a:ea typeface="Roboto Mono"/>
                <a:cs typeface="Roboto Mono"/>
                <a:sym typeface="Roboto Mono"/>
              </a:rPr>
              <a:t>&amp;</a:t>
            </a:r>
            <a:r>
              <a:rPr b="1" lang="en" sz="2500">
                <a:solidFill>
                  <a:srgbClr val="00FF00"/>
                </a:solidFill>
                <a:latin typeface="Roboto Mono"/>
                <a:ea typeface="Roboto Mono"/>
                <a:cs typeface="Roboto Mono"/>
                <a:sym typeface="Roboto Mono"/>
              </a:rPr>
              <a:t>httpFS</a:t>
            </a:r>
            <a:r>
              <a:rPr b="1" lang="en" sz="2500">
                <a:solidFill>
                  <a:schemeClr val="lt1"/>
                </a:solidFill>
                <a:latin typeface="Roboto Mono"/>
                <a:ea typeface="Roboto Mono"/>
                <a:cs typeface="Roboto Mono"/>
                <a:sym typeface="Roboto Mono"/>
              </a:rPr>
              <a:t>{</a:t>
            </a:r>
            <a:br>
              <a:rPr b="1" lang="en" sz="2500">
                <a:solidFill>
                  <a:schemeClr val="lt1"/>
                </a:solidFill>
                <a:latin typeface="Roboto Mono"/>
                <a:ea typeface="Roboto Mono"/>
                <a:cs typeface="Roboto Mono"/>
                <a:sym typeface="Roboto Mono"/>
              </a:rPr>
            </a:br>
            <a:r>
              <a:rPr b="1" lang="en" sz="2500">
                <a:solidFill>
                  <a:schemeClr val="lt1"/>
                </a:solidFill>
                <a:latin typeface="Roboto Mono"/>
                <a:ea typeface="Roboto Mono"/>
                <a:cs typeface="Roboto Mono"/>
                <a:sym typeface="Roboto Mono"/>
              </a:rPr>
              <a:t>  </a:t>
            </a:r>
            <a:r>
              <a:rPr b="1" lang="en" sz="2500">
                <a:solidFill>
                  <a:srgbClr val="FF00FF"/>
                </a:solidFill>
                <a:latin typeface="Roboto Mono"/>
                <a:ea typeface="Roboto Mono"/>
                <a:cs typeface="Roboto Mono"/>
                <a:sym typeface="Roboto Mono"/>
              </a:rPr>
              <a:t>c</a:t>
            </a:r>
            <a:r>
              <a:rPr b="1" lang="en" sz="2500">
                <a:solidFill>
                  <a:srgbClr val="FF00FF"/>
                </a:solidFill>
                <a:latin typeface="Roboto Mono"/>
                <a:ea typeface="Roboto Mono"/>
                <a:cs typeface="Roboto Mono"/>
                <a:sym typeface="Roboto Mono"/>
              </a:rPr>
              <a:t>tx</a:t>
            </a:r>
            <a:r>
              <a:rPr b="1" lang="en" sz="2500">
                <a:solidFill>
                  <a:schemeClr val="lt1"/>
                </a:solidFill>
                <a:latin typeface="Roboto Mono"/>
                <a:ea typeface="Roboto Mono"/>
                <a:cs typeface="Roboto Mono"/>
                <a:sym typeface="Roboto Mono"/>
              </a:rPr>
              <a:t>:    ctx,</a:t>
            </a:r>
            <a:br>
              <a:rPr b="1" lang="en" sz="2500">
                <a:solidFill>
                  <a:schemeClr val="lt1"/>
                </a:solidFill>
                <a:latin typeface="Roboto Mono"/>
                <a:ea typeface="Roboto Mono"/>
                <a:cs typeface="Roboto Mono"/>
                <a:sym typeface="Roboto Mono"/>
              </a:rPr>
            </a:br>
            <a:r>
              <a:rPr b="1" lang="en" sz="2500">
                <a:solidFill>
                  <a:schemeClr val="lt1"/>
                </a:solidFill>
                <a:latin typeface="Roboto Mono"/>
                <a:ea typeface="Roboto Mono"/>
                <a:cs typeface="Roboto Mono"/>
                <a:sym typeface="Roboto Mono"/>
              </a:rPr>
              <a:t>  </a:t>
            </a:r>
            <a:r>
              <a:rPr b="1" lang="en" sz="2500">
                <a:solidFill>
                  <a:srgbClr val="FF00FF"/>
                </a:solidFill>
                <a:latin typeface="Roboto Mono"/>
                <a:ea typeface="Roboto Mono"/>
                <a:cs typeface="Roboto Mono"/>
                <a:sym typeface="Roboto Mono"/>
              </a:rPr>
              <a:t>c</a:t>
            </a:r>
            <a:r>
              <a:rPr b="1" lang="en" sz="2500">
                <a:solidFill>
                  <a:srgbClr val="FF00FF"/>
                </a:solidFill>
                <a:latin typeface="Roboto Mono"/>
                <a:ea typeface="Roboto Mono"/>
                <a:cs typeface="Roboto Mono"/>
                <a:sym typeface="Roboto Mono"/>
              </a:rPr>
              <a:t>lient</a:t>
            </a:r>
            <a:r>
              <a:rPr b="1" lang="en" sz="2500">
                <a:solidFill>
                  <a:schemeClr val="lt1"/>
                </a:solidFill>
                <a:latin typeface="Roboto Mono"/>
                <a:ea typeface="Roboto Mono"/>
                <a:cs typeface="Roboto Mono"/>
                <a:sym typeface="Roboto Mono"/>
              </a:rPr>
              <a:t>: http.DefaultClient,</a:t>
            </a:r>
            <a:endParaRPr b="1" sz="2500">
              <a:solidFill>
                <a:schemeClr val="lt1"/>
              </a:solidFill>
              <a:latin typeface="Roboto Mono"/>
              <a:ea typeface="Roboto Mono"/>
              <a:cs typeface="Roboto Mono"/>
              <a:sym typeface="Roboto Mono"/>
            </a:endParaRPr>
          </a:p>
          <a:p>
            <a:pPr indent="0" lvl="0" marL="0" rtl="0" algn="l">
              <a:spcBef>
                <a:spcPts val="1200"/>
              </a:spcBef>
              <a:spcAft>
                <a:spcPts val="0"/>
              </a:spcAft>
              <a:buNone/>
            </a:pPr>
            <a:r>
              <a:rPr b="1" lang="en" sz="2500">
                <a:solidFill>
                  <a:schemeClr val="lt1"/>
                </a:solidFill>
                <a:latin typeface="Roboto Mono"/>
                <a:ea typeface="Roboto Mono"/>
                <a:cs typeface="Roboto Mono"/>
                <a:sym typeface="Roboto Mono"/>
              </a:rPr>
              <a:t>}</a:t>
            </a:r>
            <a:r>
              <a:rPr lang="en" sz="2500">
                <a:solidFill>
                  <a:schemeClr val="lt1"/>
                </a:solidFill>
                <a:latin typeface="Roboto Mono"/>
                <a:ea typeface="Roboto Mono"/>
                <a:cs typeface="Roboto Mono"/>
                <a:sym typeface="Roboto Mono"/>
              </a:rPr>
              <a:t>)</a:t>
            </a:r>
            <a:endParaRPr sz="2500">
              <a:solidFill>
                <a:schemeClr val="lt1"/>
              </a:solidFill>
              <a:latin typeface="Roboto Mono"/>
              <a:ea typeface="Roboto Mono"/>
              <a:cs typeface="Roboto Mono"/>
              <a:sym typeface="Roboto Mono"/>
            </a:endParaRPr>
          </a:p>
          <a:p>
            <a:pPr indent="0" lvl="0" marL="0" rtl="0" algn="l">
              <a:spcBef>
                <a:spcPts val="1200"/>
              </a:spcBef>
              <a:spcAft>
                <a:spcPts val="0"/>
              </a:spcAft>
              <a:buNone/>
            </a:pPr>
            <a:r>
              <a:rPr lang="en" sz="2500">
                <a:solidFill>
                  <a:schemeClr val="lt1"/>
                </a:solidFill>
                <a:latin typeface="Roboto Mono"/>
                <a:ea typeface="Roboto Mono"/>
                <a:cs typeface="Roboto Mono"/>
                <a:sym typeface="Roboto Mono"/>
              </a:rPr>
              <a:t>...</a:t>
            </a:r>
            <a:endParaRPr sz="2500">
              <a:solidFill>
                <a:schemeClr val="lt1"/>
              </a:solidFill>
              <a:latin typeface="Roboto Mono"/>
              <a:ea typeface="Roboto Mono"/>
              <a:cs typeface="Roboto Mono"/>
              <a:sym typeface="Roboto Mono"/>
            </a:endParaRPr>
          </a:p>
          <a:p>
            <a:pPr indent="0" lvl="0" marL="0" rtl="0" algn="l">
              <a:spcBef>
                <a:spcPts val="1200"/>
              </a:spcBef>
              <a:spcAft>
                <a:spcPts val="1200"/>
              </a:spcAft>
              <a:buNone/>
            </a:pPr>
            <a:r>
              <a:t/>
            </a:r>
            <a:endParaRPr sz="2500">
              <a:solidFill>
                <a:schemeClr val="lt1"/>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11" name="Shape 211"/>
        <p:cNvGrpSpPr/>
        <p:nvPr/>
      </p:nvGrpSpPr>
      <p:grpSpPr>
        <a:xfrm>
          <a:off x="0" y="0"/>
          <a:ext cx="0" cy="0"/>
          <a:chOff x="0" y="0"/>
          <a:chExt cx="0" cy="0"/>
        </a:xfrm>
      </p:grpSpPr>
      <p:sp>
        <p:nvSpPr>
          <p:cNvPr id="212" name="Google Shape;21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Roboto Mono"/>
                <a:ea typeface="Roboto Mono"/>
                <a:cs typeface="Roboto Mono"/>
                <a:sym typeface="Roboto Mono"/>
              </a:rPr>
              <a:t>Takeaways</a:t>
            </a:r>
            <a:endParaRPr b="1" sz="2620">
              <a:latin typeface="Roboto Mono"/>
              <a:ea typeface="Roboto Mono"/>
              <a:cs typeface="Roboto Mono"/>
              <a:sym typeface="Roboto Mono"/>
            </a:endParaRPr>
          </a:p>
        </p:txBody>
      </p:sp>
      <p:sp>
        <p:nvSpPr>
          <p:cNvPr id="213" name="Google Shape;213;p37"/>
          <p:cNvSpPr txBox="1"/>
          <p:nvPr>
            <p:ph idx="1" type="body"/>
          </p:nvPr>
        </p:nvSpPr>
        <p:spPr>
          <a:xfrm>
            <a:off x="311700" y="1241800"/>
            <a:ext cx="8520600" cy="33270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Why </a:t>
            </a:r>
            <a:r>
              <a:rPr lang="en" sz="2500">
                <a:latin typeface="Roboto Mono"/>
                <a:ea typeface="Roboto Mono"/>
                <a:cs typeface="Roboto Mono"/>
                <a:sym typeface="Roboto Mono"/>
              </a:rPr>
              <a:t>reuse software with CGO</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Deterministic builds with dynamic linking</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Using io/fs to capture I/O from C land</a:t>
            </a:r>
            <a:br>
              <a:rPr lang="en" sz="2500">
                <a:latin typeface="Roboto Mono"/>
                <a:ea typeface="Roboto Mono"/>
                <a:cs typeface="Roboto Mono"/>
                <a:sym typeface="Roboto Mono"/>
              </a:rPr>
            </a:br>
            <a:endParaRPr sz="2500">
              <a:latin typeface="Roboto Mono"/>
              <a:ea typeface="Roboto Mono"/>
              <a:cs typeface="Roboto Mono"/>
              <a:sym typeface="Roboto Mono"/>
            </a:endParaRPr>
          </a:p>
          <a:p>
            <a:pPr indent="-387350" lvl="0" marL="457200" rtl="0" algn="l">
              <a:spcBef>
                <a:spcPts val="0"/>
              </a:spcBef>
              <a:spcAft>
                <a:spcPts val="0"/>
              </a:spcAft>
              <a:buSzPts val="2500"/>
              <a:buFont typeface="Roboto Mono"/>
              <a:buChar char="●"/>
            </a:pPr>
            <a:r>
              <a:rPr lang="en" sz="2500">
                <a:latin typeface="Roboto Mono"/>
                <a:ea typeface="Roboto Mono"/>
                <a:cs typeface="Roboto Mono"/>
                <a:sym typeface="Roboto Mono"/>
              </a:rPr>
              <a:t>Context propagation through C call stack</a:t>
            </a:r>
            <a:endParaRPr sz="2500">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17" name="Shape 217"/>
        <p:cNvGrpSpPr/>
        <p:nvPr/>
      </p:nvGrpSpPr>
      <p:grpSpPr>
        <a:xfrm>
          <a:off x="0" y="0"/>
          <a:ext cx="0" cy="0"/>
          <a:chOff x="0" y="0"/>
          <a:chExt cx="0" cy="0"/>
        </a:xfrm>
      </p:grpSpPr>
      <p:sp>
        <p:nvSpPr>
          <p:cNvPr id="218" name="Google Shape;218;p38"/>
          <p:cNvSpPr txBox="1"/>
          <p:nvPr>
            <p:ph type="ctrTitle"/>
          </p:nvPr>
        </p:nvSpPr>
        <p:spPr>
          <a:xfrm>
            <a:off x="311708" y="1696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Roboto Mono"/>
                <a:ea typeface="Roboto Mono"/>
                <a:cs typeface="Roboto Mono"/>
                <a:sym typeface="Roboto Mono"/>
              </a:rPr>
              <a:t>Sandboxing DuckDB with io/fs</a:t>
            </a:r>
            <a:endParaRPr b="1">
              <a:latin typeface="Roboto Mono"/>
              <a:ea typeface="Roboto Mono"/>
              <a:cs typeface="Roboto Mono"/>
              <a:sym typeface="Roboto Mono"/>
            </a:endParaRPr>
          </a:p>
        </p:txBody>
      </p:sp>
      <p:pic>
        <p:nvPicPr>
          <p:cNvPr id="219" name="Google Shape;219;p38" title="GOPHERCON.png"/>
          <p:cNvPicPr preferRelativeResize="0"/>
          <p:nvPr/>
        </p:nvPicPr>
        <p:blipFill>
          <a:blip r:embed="rId3">
            <a:alphaModFix/>
          </a:blip>
          <a:stretch>
            <a:fillRect/>
          </a:stretch>
        </p:blipFill>
        <p:spPr>
          <a:xfrm>
            <a:off x="3550738" y="2654307"/>
            <a:ext cx="2042522" cy="20415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